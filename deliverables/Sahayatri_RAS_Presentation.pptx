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Sources: README.md, docs/Sahayatri-research-paper.docx, and the official Sahayatri logo assets in frontend/assets. Team name supplied by the user: RAS.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Sources: README.md; docs/GUIDE.md sections 1 and 2; docs/Sahayatri-research-paper.docx section 3. Screenshot: frontend/test-results authority workspace.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Source: docs/Sahayatri-research-paper.docx, Introduction. The 12 report example is the project paper's motivating scenario, not a production statistic.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Sources: docs/Sahayatri-research-paper.docx sections 4 and 5; backend/app/services/ticket_service.py; backend/app/core/config.py. Current code includes auto merge at a confidence score of 0.80 with safeguards and reversible split behavior.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Sources: README.md feature map; frontend/UI.md; frontend/src/routes.ts; frontend/src/pages/citizen; docs/GUIDE.md sections 7, 10, and 11. Screenshot: frontend/test-results citizen mobile workspace.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Sources: README.md architecture notes; frontend/package.json; backend/requirements.txt; docs/Sahayatri-research-paper.docx section 6.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Sources: docs/Sahayatri-research-paper.docx sections 7.1 through 7.5. Metrics are from held out generated data. Screenshot: frontend/test-results public dashboard using Playwright fixture data, which is illustrative rather than production data.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Source: docs/Sahayatri-research-paper.docx conclusion and future work. The single ward pilot is identified in the paper as the immediate next step.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RAS_LIGHT">
    <p:bg>
      <p:bgPr>
        <a:solidFill>
          <a:srgbClr val="F6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21792" y="6492240"/>
            <a:ext cx="20116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40" kern="0" dirty="0">
                <a:solidFill>
                  <a:srgbClr val="7A879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RAS / SAHAYATRI</a:t>
            </a:r>
            <a:endParaRPr lang="en-US" sz="8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09960" y="6437376"/>
            <a:ext cx="45720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7A8798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0" lang="en-US"/>
              <a:t>1002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09960" y="6437376"/>
            <a:ext cx="45720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7A8798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D29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6144768"/>
            <a:ext cx="12191695" cy="713232"/>
          </a:xfrm>
          <a:prstGeom prst="rect">
            <a:avLst/>
          </a:prstGeom>
          <a:solidFill>
            <a:srgbClr val="087F75"/>
          </a:solidFill>
          <a:ln w="12700">
            <a:solidFill>
              <a:srgbClr val="087F75">
                <a:alpha val="0"/>
              </a:srgbClr>
            </a:solidFill>
            <a:prstDash val="solid"/>
          </a:ln>
        </p:spPr>
      </p:sp>
      <p:pic>
        <p:nvPicPr>
          <p:cNvPr id="3" name="Image 0" descr="D:\Hackathon2.0\ras\frontend\assets\Primary\Dark\Primary\Dark@2x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685800" y="566928"/>
            <a:ext cx="3611880" cy="96012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713232" y="1938528"/>
            <a:ext cx="67665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Sahayatri</a:t>
            </a:r>
            <a:endParaRPr lang="en-US" sz="4800" dirty="0"/>
          </a:p>
        </p:txBody>
      </p:sp>
      <p:sp>
        <p:nvSpPr>
          <p:cNvPr id="5" name="Text 2"/>
          <p:cNvSpPr/>
          <p:nvPr/>
        </p:nvSpPr>
        <p:spPr>
          <a:xfrm>
            <a:off x="749808" y="2761488"/>
            <a:ext cx="68580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dirty="0">
                <a:solidFill>
                  <a:srgbClr val="D9E2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Civic issue reporting and safer community services for Nepal</a:t>
            </a:r>
            <a:endParaRPr lang="en-US" sz="2400" dirty="0"/>
          </a:p>
        </p:txBody>
      </p:sp>
      <p:sp>
        <p:nvSpPr>
          <p:cNvPr id="6" name="Text 3"/>
          <p:cNvSpPr/>
          <p:nvPr/>
        </p:nvSpPr>
        <p:spPr>
          <a:xfrm>
            <a:off x="749808" y="4050792"/>
            <a:ext cx="3931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6ADB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Team Name: RAS</a:t>
            </a:r>
            <a:endParaRPr lang="en-US" sz="1800" dirty="0"/>
          </a:p>
        </p:txBody>
      </p:sp>
      <p:sp>
        <p:nvSpPr>
          <p:cNvPr id="7" name="Text 4"/>
          <p:cNvSpPr/>
          <p:nvPr/>
        </p:nvSpPr>
        <p:spPr>
          <a:xfrm>
            <a:off x="749808" y="4462272"/>
            <a:ext cx="3931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B6C3D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Hackathon project presentation</a:t>
            </a:r>
            <a:endParaRPr lang="en-US" sz="1350" dirty="0"/>
          </a:p>
        </p:txBody>
      </p:sp>
      <p:sp>
        <p:nvSpPr>
          <p:cNvPr id="8" name="Shape 5"/>
          <p:cNvSpPr/>
          <p:nvPr/>
        </p:nvSpPr>
        <p:spPr>
          <a:xfrm>
            <a:off x="7818120" y="1115568"/>
            <a:ext cx="3520440" cy="3520440"/>
          </a:xfrm>
          <a:prstGeom prst="ellipse">
            <a:avLst/>
          </a:prstGeom>
          <a:solidFill>
            <a:srgbClr val="22334D">
              <a:alpha val="92000"/>
            </a:srgbClr>
          </a:solidFill>
          <a:ln w="19050">
            <a:solidFill>
              <a:srgbClr val="6ADBC6">
                <a:alpha val="30000"/>
              </a:srgbClr>
            </a:solidFill>
            <a:prstDash val="solid"/>
          </a:ln>
        </p:spPr>
      </p:sp>
      <p:pic>
        <p:nvPicPr>
          <p:cNvPr id="9" name="Image 1" descr="D:\Hackathon2.0\ras\frontend\public\icon-512.pn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8412480" y="1709928"/>
            <a:ext cx="2331720" cy="2331720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8366760" y="5056632"/>
            <a:ext cx="2468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150" kern="0" dirty="0">
                <a:solidFill>
                  <a:srgbClr val="6ADB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INTRODUCTION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21792" y="420624"/>
            <a:ext cx="100584" cy="429768"/>
          </a:xfrm>
          <a:prstGeom prst="rect">
            <a:avLst/>
          </a:prstGeom>
          <a:solidFill>
            <a:srgbClr val="087F75"/>
          </a:solidFill>
          <a:ln w="12700">
            <a:solidFill>
              <a:srgbClr val="087F75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841248" y="347472"/>
            <a:ext cx="10607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900" b="1" dirty="0">
                <a:solidFill>
                  <a:srgbClr val="1D29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Project overview</a:t>
            </a:r>
            <a:endParaRPr lang="en-US" sz="2900" dirty="0"/>
          </a:p>
        </p:txBody>
      </p:sp>
      <p:sp>
        <p:nvSpPr>
          <p:cNvPr id="4" name="Text 2"/>
          <p:cNvSpPr/>
          <p:nvPr/>
        </p:nvSpPr>
        <p:spPr>
          <a:xfrm>
            <a:off x="850392" y="850392"/>
            <a:ext cx="10469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5E6C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single workflow connects citizens, ward teams, and public accountability</a:t>
            </a:r>
            <a:endParaRPr lang="en-US" sz="1250" dirty="0"/>
          </a:p>
        </p:txBody>
      </p:sp>
      <p:sp>
        <p:nvSpPr>
          <p:cNvPr id="5" name="Text 3"/>
          <p:cNvSpPr/>
          <p:nvPr/>
        </p:nvSpPr>
        <p:spPr>
          <a:xfrm>
            <a:off x="713232" y="1335024"/>
            <a:ext cx="3108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b="1" spc="90" kern="0" dirty="0">
                <a:solidFill>
                  <a:srgbClr val="087F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SAHAYATRI IS</a:t>
            </a:r>
            <a:endParaRPr lang="en-US" sz="1050" dirty="0"/>
          </a:p>
        </p:txBody>
      </p:sp>
      <p:sp>
        <p:nvSpPr>
          <p:cNvPr id="6" name="Text 4"/>
          <p:cNvSpPr/>
          <p:nvPr/>
        </p:nvSpPr>
        <p:spPr>
          <a:xfrm>
            <a:off x="713232" y="1618488"/>
            <a:ext cx="4160520" cy="15361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900" dirty="0">
                <a:solidFill>
                  <a:srgbClr val="1D29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Sahayatri is a bilingual civic platform for Nepal. Citizens submit a local issue with GPS, a description, and an optional photo. The system routes it to the responsible ward, detects repeat reports, and keeps the ticket visible until resolution.</a:t>
            </a:r>
            <a:endParaRPr lang="en-US" sz="1900" dirty="0"/>
          </a:p>
        </p:txBody>
      </p:sp>
      <p:sp>
        <p:nvSpPr>
          <p:cNvPr id="7" name="Text 5"/>
          <p:cNvSpPr/>
          <p:nvPr/>
        </p:nvSpPr>
        <p:spPr>
          <a:xfrm>
            <a:off x="713232" y="3410712"/>
            <a:ext cx="1371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87F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Core idea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713232" y="3739896"/>
            <a:ext cx="416052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000" b="1" dirty="0">
                <a:solidFill>
                  <a:srgbClr val="1D29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One incident becomes one accountable parent ticket, while every reporter still receives status updates.</a:t>
            </a:r>
            <a:endParaRPr lang="en-US" sz="2000" dirty="0"/>
          </a:p>
        </p:txBody>
      </p:sp>
      <p:sp>
        <p:nvSpPr>
          <p:cNvPr id="9" name="Shape 7"/>
          <p:cNvSpPr/>
          <p:nvPr/>
        </p:nvSpPr>
        <p:spPr>
          <a:xfrm>
            <a:off x="5230368" y="1353312"/>
            <a:ext cx="6245352" cy="3401568"/>
          </a:xfrm>
          <a:prstGeom prst="roundRect">
            <a:avLst>
              <a:gd name="adj" fmla="val 1613"/>
            </a:avLst>
          </a:prstGeom>
          <a:solidFill>
            <a:srgbClr val="FFFFFF"/>
          </a:solidFill>
          <a:ln w="12700">
            <a:solidFill>
              <a:srgbClr val="D7DEE7"/>
            </a:solidFill>
            <a:prstDash val="solid"/>
          </a:ln>
          <a:effectLst>
            <a:outerShdw sx="100000" sy="100000" kx="0" ky="0" algn="bl" rotWithShape="0" blurRad="25400" dist="50800" dir="2700000">
              <a:srgbClr val="8090A4">
                <a:alpha val="18000"/>
              </a:srgbClr>
            </a:outerShdw>
          </a:effectLst>
        </p:spPr>
      </p:sp>
      <p:pic>
        <p:nvPicPr>
          <p:cNvPr id="10" name="Image 0" descr="Sahayatri authority dashboard showing municipal queues and report search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5385816" y="1508760"/>
            <a:ext cx="5934456" cy="3090672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9043416" y="4407408"/>
            <a:ext cx="208483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b="1" dirty="0">
                <a:solidFill>
                  <a:srgbClr val="5E6C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Authority workspace</a:t>
            </a:r>
            <a:endParaRPr lang="en-US" sz="1050" dirty="0"/>
          </a:p>
        </p:txBody>
      </p:sp>
      <p:sp>
        <p:nvSpPr>
          <p:cNvPr id="12" name="Shape 9"/>
          <p:cNvSpPr/>
          <p:nvPr/>
        </p:nvSpPr>
        <p:spPr>
          <a:xfrm>
            <a:off x="713232" y="5074920"/>
            <a:ext cx="3246120" cy="1078992"/>
          </a:xfrm>
          <a:prstGeom prst="roundRect">
            <a:avLst>
              <a:gd name="adj" fmla="val 6780"/>
            </a:avLst>
          </a:prstGeom>
          <a:solidFill>
            <a:srgbClr val="FFFFFF"/>
          </a:solidFill>
          <a:ln w="13970">
            <a:solidFill>
              <a:srgbClr val="D7DEE7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877824" y="5285232"/>
            <a:ext cx="475488" cy="475488"/>
          </a:xfrm>
          <a:prstGeom prst="ellipse">
            <a:avLst/>
          </a:prstGeom>
          <a:solidFill>
            <a:srgbClr val="087F75"/>
          </a:solidFill>
          <a:ln w="12700">
            <a:solidFill>
              <a:srgbClr val="087F75">
                <a:alpha val="0"/>
              </a:srgbClr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877824" y="5294376"/>
            <a:ext cx="475488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600" dirty="0"/>
          </a:p>
        </p:txBody>
      </p:sp>
      <p:sp>
        <p:nvSpPr>
          <p:cNvPr id="15" name="Text 12"/>
          <p:cNvSpPr/>
          <p:nvPr/>
        </p:nvSpPr>
        <p:spPr>
          <a:xfrm>
            <a:off x="1481328" y="5221224"/>
            <a:ext cx="23134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00" b="1" dirty="0">
                <a:solidFill>
                  <a:srgbClr val="1D29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Report</a:t>
            </a:r>
            <a:endParaRPr lang="en-US" sz="1700" dirty="0"/>
          </a:p>
        </p:txBody>
      </p:sp>
      <p:sp>
        <p:nvSpPr>
          <p:cNvPr id="16" name="Text 13"/>
          <p:cNvSpPr/>
          <p:nvPr/>
        </p:nvSpPr>
        <p:spPr>
          <a:xfrm>
            <a:off x="1481328" y="5541264"/>
            <a:ext cx="231343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5E6C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Photo, location, category, and description</a:t>
            </a:r>
            <a:endParaRPr lang="en-US" sz="1250" dirty="0"/>
          </a:p>
        </p:txBody>
      </p:sp>
      <p:sp>
        <p:nvSpPr>
          <p:cNvPr id="17" name="Shape 14"/>
          <p:cNvSpPr/>
          <p:nvPr/>
        </p:nvSpPr>
        <p:spPr>
          <a:xfrm>
            <a:off x="4480560" y="5074920"/>
            <a:ext cx="3246120" cy="1078992"/>
          </a:xfrm>
          <a:prstGeom prst="roundRect">
            <a:avLst>
              <a:gd name="adj" fmla="val 6780"/>
            </a:avLst>
          </a:prstGeom>
          <a:solidFill>
            <a:srgbClr val="FFFFFF"/>
          </a:solidFill>
          <a:ln w="13970">
            <a:solidFill>
              <a:srgbClr val="D7DEE7"/>
            </a:solidFill>
            <a:prstDash val="solid"/>
          </a:ln>
        </p:spPr>
      </p:sp>
      <p:sp>
        <p:nvSpPr>
          <p:cNvPr id="18" name="Shape 15"/>
          <p:cNvSpPr/>
          <p:nvPr/>
        </p:nvSpPr>
        <p:spPr>
          <a:xfrm>
            <a:off x="4645152" y="5285232"/>
            <a:ext cx="475488" cy="475488"/>
          </a:xfrm>
          <a:prstGeom prst="ellipse">
            <a:avLst/>
          </a:prstGeom>
          <a:solidFill>
            <a:srgbClr val="087F75"/>
          </a:solidFill>
          <a:ln w="12700">
            <a:solidFill>
              <a:srgbClr val="087F75">
                <a:alpha val="0"/>
              </a:srgbClr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4645152" y="5294376"/>
            <a:ext cx="475488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600" dirty="0"/>
          </a:p>
        </p:txBody>
      </p:sp>
      <p:sp>
        <p:nvSpPr>
          <p:cNvPr id="20" name="Text 17"/>
          <p:cNvSpPr/>
          <p:nvPr/>
        </p:nvSpPr>
        <p:spPr>
          <a:xfrm>
            <a:off x="5248656" y="5221224"/>
            <a:ext cx="23134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00" b="1" dirty="0">
                <a:solidFill>
                  <a:srgbClr val="1D29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Consolidate</a:t>
            </a:r>
            <a:endParaRPr lang="en-US" sz="1700" dirty="0"/>
          </a:p>
        </p:txBody>
      </p:sp>
      <p:sp>
        <p:nvSpPr>
          <p:cNvPr id="21" name="Text 18"/>
          <p:cNvSpPr/>
          <p:nvPr/>
        </p:nvSpPr>
        <p:spPr>
          <a:xfrm>
            <a:off x="5248656" y="5541264"/>
            <a:ext cx="231343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5E6C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Likely repeats fold under one ticket</a:t>
            </a:r>
            <a:endParaRPr lang="en-US" sz="1250" dirty="0"/>
          </a:p>
        </p:txBody>
      </p:sp>
      <p:sp>
        <p:nvSpPr>
          <p:cNvPr id="22" name="Shape 19"/>
          <p:cNvSpPr/>
          <p:nvPr/>
        </p:nvSpPr>
        <p:spPr>
          <a:xfrm>
            <a:off x="8247888" y="5074920"/>
            <a:ext cx="3246120" cy="1078992"/>
          </a:xfrm>
          <a:prstGeom prst="roundRect">
            <a:avLst>
              <a:gd name="adj" fmla="val 6780"/>
            </a:avLst>
          </a:prstGeom>
          <a:solidFill>
            <a:srgbClr val="FFFFFF"/>
          </a:solidFill>
          <a:ln w="13970">
            <a:solidFill>
              <a:srgbClr val="D7DEE7"/>
            </a:solidFill>
            <a:prstDash val="solid"/>
          </a:ln>
        </p:spPr>
      </p:sp>
      <p:sp>
        <p:nvSpPr>
          <p:cNvPr id="23" name="Shape 20"/>
          <p:cNvSpPr/>
          <p:nvPr/>
        </p:nvSpPr>
        <p:spPr>
          <a:xfrm>
            <a:off x="8412480" y="5285232"/>
            <a:ext cx="475488" cy="475488"/>
          </a:xfrm>
          <a:prstGeom prst="ellipse">
            <a:avLst/>
          </a:prstGeom>
          <a:solidFill>
            <a:srgbClr val="087F75"/>
          </a:solidFill>
          <a:ln w="12700">
            <a:solidFill>
              <a:srgbClr val="087F75">
                <a:alpha val="0"/>
              </a:srgbClr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8412480" y="5294376"/>
            <a:ext cx="475488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600" dirty="0"/>
          </a:p>
        </p:txBody>
      </p:sp>
      <p:sp>
        <p:nvSpPr>
          <p:cNvPr id="25" name="Text 22"/>
          <p:cNvSpPr/>
          <p:nvPr/>
        </p:nvSpPr>
        <p:spPr>
          <a:xfrm>
            <a:off x="9015984" y="5221224"/>
            <a:ext cx="23134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00" b="1" dirty="0">
                <a:solidFill>
                  <a:srgbClr val="1D29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Resolve</a:t>
            </a:r>
            <a:endParaRPr lang="en-US" sz="1700" dirty="0"/>
          </a:p>
        </p:txBody>
      </p:sp>
      <p:sp>
        <p:nvSpPr>
          <p:cNvPr id="26" name="Text 23"/>
          <p:cNvSpPr/>
          <p:nvPr/>
        </p:nvSpPr>
        <p:spPr>
          <a:xfrm>
            <a:off x="9015984" y="5541264"/>
            <a:ext cx="231343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5E6C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Ward action, timeline, and citizen updates</a:t>
            </a:r>
            <a:endParaRPr lang="en-US" sz="1250" dirty="0"/>
          </a:p>
        </p:txBody>
      </p:sp>
      <p:sp>
        <p:nvSpPr>
          <p:cNvPr id="27" name="Shape 24"/>
          <p:cNvSpPr/>
          <p:nvPr/>
        </p:nvSpPr>
        <p:spPr>
          <a:xfrm>
            <a:off x="4005072" y="5614416"/>
            <a:ext cx="384048" cy="0"/>
          </a:xfrm>
          <a:prstGeom prst="line">
            <a:avLst/>
          </a:prstGeom>
          <a:noFill/>
          <a:ln w="25400">
            <a:solidFill>
              <a:srgbClr val="087F75"/>
            </a:solidFill>
            <a:prstDash val="solid"/>
            <a:tailEnd type="triangle"/>
          </a:ln>
        </p:spPr>
      </p:sp>
      <p:sp>
        <p:nvSpPr>
          <p:cNvPr id="28" name="Shape 25"/>
          <p:cNvSpPr/>
          <p:nvPr/>
        </p:nvSpPr>
        <p:spPr>
          <a:xfrm>
            <a:off x="7772400" y="5614416"/>
            <a:ext cx="384048" cy="0"/>
          </a:xfrm>
          <a:prstGeom prst="line">
            <a:avLst/>
          </a:prstGeom>
          <a:noFill/>
          <a:ln w="25400">
            <a:solidFill>
              <a:srgbClr val="087F75"/>
            </a:solidFill>
            <a:prstDash val="solid"/>
            <a:tailEnd type="triangle"/>
          </a:ln>
        </p:spPr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09960" y="6437376"/>
            <a:ext cx="45720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7A8798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21792" y="420624"/>
            <a:ext cx="100584" cy="429768"/>
          </a:xfrm>
          <a:prstGeom prst="rect">
            <a:avLst/>
          </a:prstGeom>
          <a:solidFill>
            <a:srgbClr val="087F75"/>
          </a:solidFill>
          <a:ln w="12700">
            <a:solidFill>
              <a:srgbClr val="087F75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841248" y="347472"/>
            <a:ext cx="10607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900" b="1" dirty="0">
                <a:solidFill>
                  <a:srgbClr val="1D29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municipal reporting problem</a:t>
            </a:r>
            <a:endParaRPr lang="en-US" sz="2900" dirty="0"/>
          </a:p>
        </p:txBody>
      </p:sp>
      <p:sp>
        <p:nvSpPr>
          <p:cNvPr id="4" name="Text 2"/>
          <p:cNvSpPr/>
          <p:nvPr/>
        </p:nvSpPr>
        <p:spPr>
          <a:xfrm>
            <a:off x="850392" y="850392"/>
            <a:ext cx="10469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5E6C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More submissions do not automatically create a clearer queue</a:t>
            </a:r>
            <a:endParaRPr lang="en-US" sz="1250" dirty="0"/>
          </a:p>
        </p:txBody>
      </p:sp>
      <p:sp>
        <p:nvSpPr>
          <p:cNvPr id="5" name="Text 3"/>
          <p:cNvSpPr/>
          <p:nvPr/>
        </p:nvSpPr>
        <p:spPr>
          <a:xfrm>
            <a:off x="713232" y="1353312"/>
            <a:ext cx="23774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b="1" spc="90" kern="0" dirty="0">
                <a:solidFill>
                  <a:srgbClr val="C8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DUPLICATE FLOOD</a:t>
            </a:r>
            <a:endParaRPr lang="en-US" sz="1050" dirty="0"/>
          </a:p>
        </p:txBody>
      </p:sp>
      <p:sp>
        <p:nvSpPr>
          <p:cNvPr id="6" name="Text 4"/>
          <p:cNvSpPr/>
          <p:nvPr/>
        </p:nvSpPr>
        <p:spPr>
          <a:xfrm>
            <a:off x="713232" y="1645920"/>
            <a:ext cx="2971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C8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 reports</a:t>
            </a:r>
            <a:endParaRPr lang="en-US" sz="3800" dirty="0"/>
          </a:p>
        </p:txBody>
      </p:sp>
      <p:sp>
        <p:nvSpPr>
          <p:cNvPr id="7" name="Text 5"/>
          <p:cNvSpPr/>
          <p:nvPr/>
        </p:nvSpPr>
        <p:spPr>
          <a:xfrm>
            <a:off x="749808" y="2304288"/>
            <a:ext cx="2194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5E6C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can describe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713232" y="2624328"/>
            <a:ext cx="32004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D29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one pothole</a:t>
            </a:r>
            <a:endParaRPr lang="en-US" sz="3400" dirty="0"/>
          </a:p>
        </p:txBody>
      </p:sp>
      <p:sp>
        <p:nvSpPr>
          <p:cNvPr id="9" name="Shape 7"/>
          <p:cNvSpPr/>
          <p:nvPr/>
        </p:nvSpPr>
        <p:spPr>
          <a:xfrm>
            <a:off x="868680" y="3502152"/>
            <a:ext cx="228600" cy="228600"/>
          </a:xfrm>
          <a:prstGeom prst="ellipse">
            <a:avLst/>
          </a:prstGeom>
          <a:solidFill>
            <a:srgbClr val="C84444">
              <a:alpha val="85000"/>
            </a:srgbClr>
          </a:solidFill>
          <a:ln w="12700">
            <a:solidFill>
              <a:srgbClr val="C84444">
                <a:alpha val="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1298448" y="3502152"/>
            <a:ext cx="228600" cy="228600"/>
          </a:xfrm>
          <a:prstGeom prst="ellipse">
            <a:avLst/>
          </a:prstGeom>
          <a:solidFill>
            <a:srgbClr val="C84444">
              <a:alpha val="85000"/>
            </a:srgbClr>
          </a:solidFill>
          <a:ln w="12700">
            <a:solidFill>
              <a:srgbClr val="C84444">
                <a:alpha val="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1728216" y="3502152"/>
            <a:ext cx="228600" cy="228600"/>
          </a:xfrm>
          <a:prstGeom prst="ellipse">
            <a:avLst/>
          </a:prstGeom>
          <a:solidFill>
            <a:srgbClr val="C84444">
              <a:alpha val="85000"/>
            </a:srgbClr>
          </a:solidFill>
          <a:ln w="12700">
            <a:solidFill>
              <a:srgbClr val="C84444">
                <a:alpha val="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2157984" y="3502152"/>
            <a:ext cx="228600" cy="228600"/>
          </a:xfrm>
          <a:prstGeom prst="ellipse">
            <a:avLst/>
          </a:prstGeom>
          <a:solidFill>
            <a:srgbClr val="C84444">
              <a:alpha val="85000"/>
            </a:srgbClr>
          </a:solidFill>
          <a:ln w="12700">
            <a:solidFill>
              <a:srgbClr val="C84444">
                <a:alpha val="0"/>
              </a:srgbClr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868680" y="3931920"/>
            <a:ext cx="228600" cy="228600"/>
          </a:xfrm>
          <a:prstGeom prst="ellipse">
            <a:avLst/>
          </a:prstGeom>
          <a:solidFill>
            <a:srgbClr val="C84444">
              <a:alpha val="85000"/>
            </a:srgbClr>
          </a:solidFill>
          <a:ln w="12700">
            <a:solidFill>
              <a:srgbClr val="C84444">
                <a:alpha val="0"/>
              </a:srgbClr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1298448" y="3931920"/>
            <a:ext cx="228600" cy="228600"/>
          </a:xfrm>
          <a:prstGeom prst="ellipse">
            <a:avLst/>
          </a:prstGeom>
          <a:solidFill>
            <a:srgbClr val="C84444">
              <a:alpha val="85000"/>
            </a:srgbClr>
          </a:solidFill>
          <a:ln w="12700">
            <a:solidFill>
              <a:srgbClr val="C84444">
                <a:alpha val="0"/>
              </a:srgbClr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1728216" y="3931920"/>
            <a:ext cx="228600" cy="228600"/>
          </a:xfrm>
          <a:prstGeom prst="ellipse">
            <a:avLst/>
          </a:prstGeom>
          <a:solidFill>
            <a:srgbClr val="C84444">
              <a:alpha val="85000"/>
            </a:srgbClr>
          </a:solidFill>
          <a:ln w="12700">
            <a:solidFill>
              <a:srgbClr val="C84444">
                <a:alpha val="0"/>
              </a:srgbClr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2157984" y="3931920"/>
            <a:ext cx="228600" cy="228600"/>
          </a:xfrm>
          <a:prstGeom prst="ellipse">
            <a:avLst/>
          </a:prstGeom>
          <a:solidFill>
            <a:srgbClr val="C84444">
              <a:alpha val="85000"/>
            </a:srgbClr>
          </a:solidFill>
          <a:ln w="12700">
            <a:solidFill>
              <a:srgbClr val="C84444">
                <a:alpha val="0"/>
              </a:srgbClr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868680" y="4361688"/>
            <a:ext cx="228600" cy="228600"/>
          </a:xfrm>
          <a:prstGeom prst="ellipse">
            <a:avLst/>
          </a:prstGeom>
          <a:solidFill>
            <a:srgbClr val="C84444">
              <a:alpha val="85000"/>
            </a:srgbClr>
          </a:solidFill>
          <a:ln w="12700">
            <a:solidFill>
              <a:srgbClr val="C84444">
                <a:alpha val="0"/>
              </a:srgbClr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1298448" y="4361688"/>
            <a:ext cx="228600" cy="228600"/>
          </a:xfrm>
          <a:prstGeom prst="ellipse">
            <a:avLst/>
          </a:prstGeom>
          <a:solidFill>
            <a:srgbClr val="C84444">
              <a:alpha val="85000"/>
            </a:srgbClr>
          </a:solidFill>
          <a:ln w="12700">
            <a:solidFill>
              <a:srgbClr val="C84444">
                <a:alpha val="0"/>
              </a:srgbClr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1728216" y="4361688"/>
            <a:ext cx="228600" cy="228600"/>
          </a:xfrm>
          <a:prstGeom prst="ellipse">
            <a:avLst/>
          </a:prstGeom>
          <a:solidFill>
            <a:srgbClr val="C84444">
              <a:alpha val="85000"/>
            </a:srgbClr>
          </a:solidFill>
          <a:ln w="12700">
            <a:solidFill>
              <a:srgbClr val="C84444">
                <a:alpha val="0"/>
              </a:srgbClr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2157984" y="4361688"/>
            <a:ext cx="228600" cy="228600"/>
          </a:xfrm>
          <a:prstGeom prst="ellipse">
            <a:avLst/>
          </a:prstGeom>
          <a:solidFill>
            <a:srgbClr val="C84444">
              <a:alpha val="85000"/>
            </a:srgbClr>
          </a:solidFill>
          <a:ln w="12700">
            <a:solidFill>
              <a:srgbClr val="C84444">
                <a:alpha val="0"/>
              </a:srgbClr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2633472" y="4041648"/>
            <a:ext cx="1143000" cy="0"/>
          </a:xfrm>
          <a:prstGeom prst="line">
            <a:avLst/>
          </a:prstGeom>
          <a:noFill/>
          <a:ln w="25400">
            <a:solidFill>
              <a:srgbClr val="087F75"/>
            </a:solidFill>
            <a:prstDash val="solid"/>
            <a:tailEnd type="triangle"/>
          </a:ln>
        </p:spPr>
      </p:sp>
      <p:sp>
        <p:nvSpPr>
          <p:cNvPr id="22" name="Shape 20"/>
          <p:cNvSpPr/>
          <p:nvPr/>
        </p:nvSpPr>
        <p:spPr>
          <a:xfrm>
            <a:off x="3968496" y="3355848"/>
            <a:ext cx="1481328" cy="1481328"/>
          </a:xfrm>
          <a:prstGeom prst="roundRect">
            <a:avLst>
              <a:gd name="adj" fmla="val 4938"/>
            </a:avLst>
          </a:prstGeom>
          <a:solidFill>
            <a:srgbClr val="DDF7F1"/>
          </a:solidFill>
          <a:ln w="19050">
            <a:solidFill>
              <a:srgbClr val="087F75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968496" y="3502152"/>
            <a:ext cx="14813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087F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3400" dirty="0"/>
          </a:p>
        </p:txBody>
      </p:sp>
      <p:sp>
        <p:nvSpPr>
          <p:cNvPr id="24" name="Text 22"/>
          <p:cNvSpPr/>
          <p:nvPr/>
        </p:nvSpPr>
        <p:spPr>
          <a:xfrm>
            <a:off x="3968496" y="4160520"/>
            <a:ext cx="148132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D29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incident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731520" y="5001768"/>
            <a:ext cx="468172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5E6C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Unlinked volume becomes queue noise instead of evidence.</a:t>
            </a:r>
            <a:endParaRPr lang="en-US" sz="1800" dirty="0"/>
          </a:p>
        </p:txBody>
      </p:sp>
      <p:sp>
        <p:nvSpPr>
          <p:cNvPr id="26" name="Shape 24"/>
          <p:cNvSpPr/>
          <p:nvPr/>
        </p:nvSpPr>
        <p:spPr>
          <a:xfrm>
            <a:off x="5971032" y="1417320"/>
            <a:ext cx="0" cy="4434840"/>
          </a:xfrm>
          <a:prstGeom prst="line">
            <a:avLst/>
          </a:prstGeom>
          <a:noFill/>
          <a:ln w="15240">
            <a:solidFill>
              <a:srgbClr val="D7DEE7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428232" y="1490472"/>
            <a:ext cx="47548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C8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7059168" y="1472184"/>
            <a:ext cx="431596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1D29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Queue overload</a:t>
            </a:r>
            <a:endParaRPr lang="en-US" sz="2100" dirty="0"/>
          </a:p>
        </p:txBody>
      </p:sp>
      <p:sp>
        <p:nvSpPr>
          <p:cNvPr id="29" name="Text 27"/>
          <p:cNvSpPr/>
          <p:nvPr/>
        </p:nvSpPr>
        <p:spPr>
          <a:xfrm>
            <a:off x="7059168" y="1883664"/>
            <a:ext cx="4315968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600" dirty="0">
                <a:solidFill>
                  <a:srgbClr val="5E6C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Officers may review several rows for the same physical problem and miss the real scale of the incident.</a:t>
            </a:r>
            <a:endParaRPr lang="en-US" sz="1600" dirty="0"/>
          </a:p>
        </p:txBody>
      </p:sp>
      <p:sp>
        <p:nvSpPr>
          <p:cNvPr id="30" name="Shape 28"/>
          <p:cNvSpPr/>
          <p:nvPr/>
        </p:nvSpPr>
        <p:spPr>
          <a:xfrm>
            <a:off x="6428232" y="2724912"/>
            <a:ext cx="4901184" cy="0"/>
          </a:xfrm>
          <a:prstGeom prst="line">
            <a:avLst/>
          </a:prstGeom>
          <a:noFill/>
          <a:ln w="12700">
            <a:solidFill>
              <a:srgbClr val="D7DEE7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6428232" y="2971800"/>
            <a:ext cx="47548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87F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1400" dirty="0"/>
          </a:p>
        </p:txBody>
      </p:sp>
      <p:sp>
        <p:nvSpPr>
          <p:cNvPr id="32" name="Text 30"/>
          <p:cNvSpPr/>
          <p:nvPr/>
        </p:nvSpPr>
        <p:spPr>
          <a:xfrm>
            <a:off x="7059168" y="2953512"/>
            <a:ext cx="431596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1D29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Priority distortion</a:t>
            </a:r>
            <a:endParaRPr lang="en-US" sz="2100" dirty="0"/>
          </a:p>
        </p:txBody>
      </p:sp>
      <p:sp>
        <p:nvSpPr>
          <p:cNvPr id="33" name="Text 31"/>
          <p:cNvSpPr/>
          <p:nvPr/>
        </p:nvSpPr>
        <p:spPr>
          <a:xfrm>
            <a:off x="7059168" y="3364992"/>
            <a:ext cx="4315968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600" dirty="0">
                <a:solidFill>
                  <a:srgbClr val="5E6C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If reporters choose urgency, routine complaints compete with hazards that are genuinely dangerous.</a:t>
            </a:r>
            <a:endParaRPr lang="en-US" sz="1600" dirty="0"/>
          </a:p>
        </p:txBody>
      </p:sp>
      <p:sp>
        <p:nvSpPr>
          <p:cNvPr id="34" name="Shape 32"/>
          <p:cNvSpPr/>
          <p:nvPr/>
        </p:nvSpPr>
        <p:spPr>
          <a:xfrm>
            <a:off x="6428232" y="4206240"/>
            <a:ext cx="4901184" cy="0"/>
          </a:xfrm>
          <a:prstGeom prst="line">
            <a:avLst/>
          </a:prstGeom>
          <a:noFill/>
          <a:ln w="12700">
            <a:solidFill>
              <a:srgbClr val="D7DEE7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6428232" y="4453128"/>
            <a:ext cx="47548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87F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1400" dirty="0"/>
          </a:p>
        </p:txBody>
      </p:sp>
      <p:sp>
        <p:nvSpPr>
          <p:cNvPr id="36" name="Text 34"/>
          <p:cNvSpPr/>
          <p:nvPr/>
        </p:nvSpPr>
        <p:spPr>
          <a:xfrm>
            <a:off x="7059168" y="4434840"/>
            <a:ext cx="431596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1D29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Loss of trust</a:t>
            </a:r>
            <a:endParaRPr lang="en-US" sz="2100" dirty="0"/>
          </a:p>
        </p:txBody>
      </p:sp>
      <p:sp>
        <p:nvSpPr>
          <p:cNvPr id="37" name="Text 35"/>
          <p:cNvSpPr/>
          <p:nvPr/>
        </p:nvSpPr>
        <p:spPr>
          <a:xfrm>
            <a:off x="7059168" y="4846320"/>
            <a:ext cx="4315968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600" dirty="0">
                <a:solidFill>
                  <a:srgbClr val="5E6C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When citizens cannot see progress or receive updates, reporting begins to feel pointless.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09960" y="6437376"/>
            <a:ext cx="45720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7A8798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21792" y="420624"/>
            <a:ext cx="100584" cy="429768"/>
          </a:xfrm>
          <a:prstGeom prst="rect">
            <a:avLst/>
          </a:prstGeom>
          <a:solidFill>
            <a:srgbClr val="087F75"/>
          </a:solidFill>
          <a:ln w="12700">
            <a:solidFill>
              <a:srgbClr val="087F75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841248" y="347472"/>
            <a:ext cx="10607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900" b="1" dirty="0">
                <a:solidFill>
                  <a:srgbClr val="1D29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How Sahayatri solves it</a:t>
            </a:r>
            <a:endParaRPr lang="en-US" sz="2900" dirty="0"/>
          </a:p>
        </p:txBody>
      </p:sp>
      <p:sp>
        <p:nvSpPr>
          <p:cNvPr id="4" name="Text 2"/>
          <p:cNvSpPr/>
          <p:nvPr/>
        </p:nvSpPr>
        <p:spPr>
          <a:xfrm>
            <a:off x="850392" y="850392"/>
            <a:ext cx="10469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5E6C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Duplicate consolidation and evidence based priority work as two linked systems</a:t>
            </a:r>
            <a:endParaRPr lang="en-US" sz="1250" dirty="0"/>
          </a:p>
        </p:txBody>
      </p:sp>
      <p:sp>
        <p:nvSpPr>
          <p:cNvPr id="5" name="Text 3"/>
          <p:cNvSpPr/>
          <p:nvPr/>
        </p:nvSpPr>
        <p:spPr>
          <a:xfrm>
            <a:off x="713232" y="1353312"/>
            <a:ext cx="3657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b="1" spc="90" kern="0" dirty="0">
                <a:solidFill>
                  <a:srgbClr val="087F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  DUPLICATE CONSOLIDATION</a:t>
            </a:r>
            <a:endParaRPr lang="en-US" sz="1050" dirty="0"/>
          </a:p>
        </p:txBody>
      </p:sp>
      <p:sp>
        <p:nvSpPr>
          <p:cNvPr id="6" name="Shape 4"/>
          <p:cNvSpPr/>
          <p:nvPr/>
        </p:nvSpPr>
        <p:spPr>
          <a:xfrm>
            <a:off x="713232" y="1673352"/>
            <a:ext cx="1874520" cy="1078992"/>
          </a:xfrm>
          <a:prstGeom prst="roundRect">
            <a:avLst>
              <a:gd name="adj" fmla="val 5085"/>
            </a:avLst>
          </a:prstGeom>
          <a:solidFill>
            <a:srgbClr val="FFFFFF"/>
          </a:solidFill>
          <a:ln w="12700">
            <a:solidFill>
              <a:srgbClr val="D7DEE7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96112" y="1901952"/>
            <a:ext cx="1508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D29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New report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841248" y="2276856"/>
            <a:ext cx="162763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5E6C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GPS + text + optional photo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2697480" y="2221992"/>
            <a:ext cx="502920" cy="0"/>
          </a:xfrm>
          <a:prstGeom prst="line">
            <a:avLst/>
          </a:prstGeom>
          <a:noFill/>
          <a:ln w="25400">
            <a:solidFill>
              <a:srgbClr val="087F75"/>
            </a:solidFill>
            <a:prstDash val="solid"/>
            <a:tailEnd type="triangle"/>
          </a:ln>
        </p:spPr>
      </p:sp>
      <p:sp>
        <p:nvSpPr>
          <p:cNvPr id="10" name="Shape 8"/>
          <p:cNvSpPr/>
          <p:nvPr/>
        </p:nvSpPr>
        <p:spPr>
          <a:xfrm>
            <a:off x="3328416" y="1481328"/>
            <a:ext cx="3986784" cy="1481328"/>
          </a:xfrm>
          <a:prstGeom prst="roundRect">
            <a:avLst>
              <a:gd name="adj" fmla="val 3704"/>
            </a:avLst>
          </a:prstGeom>
          <a:solidFill>
            <a:srgbClr val="DDF7F1"/>
          </a:solidFill>
          <a:ln w="15240">
            <a:solidFill>
              <a:srgbClr val="087F75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547872" y="1655064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087F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Four matching signals</a:t>
            </a:r>
            <a:endParaRPr lang="en-US" sz="1900" dirty="0"/>
          </a:p>
        </p:txBody>
      </p:sp>
      <p:sp>
        <p:nvSpPr>
          <p:cNvPr id="12" name="Text 10"/>
          <p:cNvSpPr/>
          <p:nvPr/>
        </p:nvSpPr>
        <p:spPr>
          <a:xfrm>
            <a:off x="3566160" y="2084832"/>
            <a:ext cx="731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D29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35%</a:t>
            </a:r>
            <a:endParaRPr lang="en-US" sz="1700" dirty="0"/>
          </a:p>
        </p:txBody>
      </p:sp>
      <p:sp>
        <p:nvSpPr>
          <p:cNvPr id="13" name="Text 11"/>
          <p:cNvSpPr/>
          <p:nvPr/>
        </p:nvSpPr>
        <p:spPr>
          <a:xfrm>
            <a:off x="3520440" y="2414016"/>
            <a:ext cx="822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5E6C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Category</a:t>
            </a:r>
            <a:endParaRPr lang="en-US" sz="1150" dirty="0"/>
          </a:p>
        </p:txBody>
      </p:sp>
      <p:sp>
        <p:nvSpPr>
          <p:cNvPr id="14" name="Text 12"/>
          <p:cNvSpPr/>
          <p:nvPr/>
        </p:nvSpPr>
        <p:spPr>
          <a:xfrm>
            <a:off x="4462272" y="2084832"/>
            <a:ext cx="731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D29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30%</a:t>
            </a:r>
            <a:endParaRPr lang="en-US" sz="1700" dirty="0"/>
          </a:p>
        </p:txBody>
      </p:sp>
      <p:sp>
        <p:nvSpPr>
          <p:cNvPr id="15" name="Text 13"/>
          <p:cNvSpPr/>
          <p:nvPr/>
        </p:nvSpPr>
        <p:spPr>
          <a:xfrm>
            <a:off x="4416552" y="2414016"/>
            <a:ext cx="822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5E6C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Text</a:t>
            </a:r>
            <a:endParaRPr lang="en-US" sz="1150" dirty="0"/>
          </a:p>
        </p:txBody>
      </p:sp>
      <p:sp>
        <p:nvSpPr>
          <p:cNvPr id="16" name="Text 14"/>
          <p:cNvSpPr/>
          <p:nvPr/>
        </p:nvSpPr>
        <p:spPr>
          <a:xfrm>
            <a:off x="5358384" y="2084832"/>
            <a:ext cx="731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D29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20%</a:t>
            </a:r>
            <a:endParaRPr lang="en-US" sz="1700" dirty="0"/>
          </a:p>
        </p:txBody>
      </p:sp>
      <p:sp>
        <p:nvSpPr>
          <p:cNvPr id="17" name="Text 15"/>
          <p:cNvSpPr/>
          <p:nvPr/>
        </p:nvSpPr>
        <p:spPr>
          <a:xfrm>
            <a:off x="5312664" y="2414016"/>
            <a:ext cx="822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5E6C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Photo</a:t>
            </a:r>
            <a:endParaRPr lang="en-US" sz="1150" dirty="0"/>
          </a:p>
        </p:txBody>
      </p:sp>
      <p:sp>
        <p:nvSpPr>
          <p:cNvPr id="18" name="Text 16"/>
          <p:cNvSpPr/>
          <p:nvPr/>
        </p:nvSpPr>
        <p:spPr>
          <a:xfrm>
            <a:off x="6254496" y="2084832"/>
            <a:ext cx="731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D29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15%</a:t>
            </a:r>
            <a:endParaRPr lang="en-US" sz="1700" dirty="0"/>
          </a:p>
        </p:txBody>
      </p:sp>
      <p:sp>
        <p:nvSpPr>
          <p:cNvPr id="19" name="Text 17"/>
          <p:cNvSpPr/>
          <p:nvPr/>
        </p:nvSpPr>
        <p:spPr>
          <a:xfrm>
            <a:off x="6208776" y="2414016"/>
            <a:ext cx="822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5E6C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Location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7424928" y="2221992"/>
            <a:ext cx="502920" cy="0"/>
          </a:xfrm>
          <a:prstGeom prst="line">
            <a:avLst/>
          </a:prstGeom>
          <a:noFill/>
          <a:ln w="25400">
            <a:solidFill>
              <a:srgbClr val="087F75"/>
            </a:solidFill>
            <a:prstDash val="solid"/>
            <a:tailEnd type="triangle"/>
          </a:ln>
        </p:spPr>
      </p:sp>
      <p:sp>
        <p:nvSpPr>
          <p:cNvPr id="21" name="Shape 19"/>
          <p:cNvSpPr/>
          <p:nvPr/>
        </p:nvSpPr>
        <p:spPr>
          <a:xfrm>
            <a:off x="8046720" y="1481328"/>
            <a:ext cx="3410712" cy="1481328"/>
          </a:xfrm>
          <a:prstGeom prst="roundRect">
            <a:avLst>
              <a:gd name="adj" fmla="val 3704"/>
            </a:avLst>
          </a:prstGeom>
          <a:solidFill>
            <a:srgbClr val="FFFFFF"/>
          </a:solidFill>
          <a:ln w="12700">
            <a:solidFill>
              <a:srgbClr val="D7DEE7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8284464" y="1664208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D29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Confidence decides the path</a:t>
            </a:r>
            <a:endParaRPr lang="en-US" sz="1800" dirty="0"/>
          </a:p>
        </p:txBody>
      </p:sp>
      <p:sp>
        <p:nvSpPr>
          <p:cNvPr id="23" name="Text 21"/>
          <p:cNvSpPr/>
          <p:nvPr/>
        </p:nvSpPr>
        <p:spPr>
          <a:xfrm>
            <a:off x="8284464" y="2011680"/>
            <a:ext cx="28346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50" dirty="0">
                <a:solidFill>
                  <a:srgbClr val="5E6C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High confidence: merge automatically</a:t>
            </a:r>
            <a:endParaRPr lang="en-US" sz="1350" dirty="0"/>
          </a:p>
          <a:p>
            <a:pPr indent="0" marL="0">
              <a:buNone/>
            </a:pPr>
            <a:r>
              <a:rPr lang="en-US" sz="1350" dirty="0">
                <a:solidFill>
                  <a:srgbClr val="5E6C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Lower confidence: officer review</a:t>
            </a:r>
            <a:endParaRPr lang="en-US" sz="1350" dirty="0"/>
          </a:p>
          <a:p>
            <a:pPr indent="0" marL="0">
              <a:buNone/>
            </a:pPr>
            <a:r>
              <a:rPr lang="en-US" sz="1350" dirty="0">
                <a:solidFill>
                  <a:srgbClr val="5E6C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Every merge can be reversed</a:t>
            </a:r>
            <a:endParaRPr lang="en-US" sz="1350" dirty="0"/>
          </a:p>
        </p:txBody>
      </p:sp>
      <p:sp>
        <p:nvSpPr>
          <p:cNvPr id="24" name="Text 22"/>
          <p:cNvSpPr/>
          <p:nvPr/>
        </p:nvSpPr>
        <p:spPr>
          <a:xfrm>
            <a:off x="731520" y="3182112"/>
            <a:ext cx="1071676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50" dirty="0">
                <a:solidFill>
                  <a:srgbClr val="5E6C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hard distance gate removes far away lookalikes. Missing photo data does not reduce the score because weights are recalculated over the signals present.</a:t>
            </a:r>
            <a:endParaRPr lang="en-US" sz="1550" dirty="0"/>
          </a:p>
        </p:txBody>
      </p:sp>
      <p:sp>
        <p:nvSpPr>
          <p:cNvPr id="25" name="Shape 23"/>
          <p:cNvSpPr/>
          <p:nvPr/>
        </p:nvSpPr>
        <p:spPr>
          <a:xfrm>
            <a:off x="713232" y="3886200"/>
            <a:ext cx="10762488" cy="0"/>
          </a:xfrm>
          <a:prstGeom prst="line">
            <a:avLst/>
          </a:prstGeom>
          <a:noFill/>
          <a:ln w="15240">
            <a:solidFill>
              <a:srgbClr val="D7DEE7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713232" y="4169664"/>
            <a:ext cx="3657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b="1" spc="90" kern="0" dirty="0">
                <a:solidFill>
                  <a:srgbClr val="087F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  EVIDENCE BASED PRIORITY</a:t>
            </a:r>
            <a:endParaRPr lang="en-US" sz="1050" dirty="0"/>
          </a:p>
        </p:txBody>
      </p:sp>
      <p:sp>
        <p:nvSpPr>
          <p:cNvPr id="27" name="Shape 25"/>
          <p:cNvSpPr/>
          <p:nvPr/>
        </p:nvSpPr>
        <p:spPr>
          <a:xfrm>
            <a:off x="713232" y="4535424"/>
            <a:ext cx="1783080" cy="731520"/>
          </a:xfrm>
          <a:prstGeom prst="roundRect">
            <a:avLst>
              <a:gd name="adj" fmla="val 6250"/>
            </a:avLst>
          </a:prstGeom>
          <a:solidFill>
            <a:srgbClr val="FFFFFF"/>
          </a:solidFill>
          <a:ln w="15240">
            <a:solidFill>
              <a:srgbClr val="26364F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832104" y="4681728"/>
            <a:ext cx="154533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D29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Category severity</a:t>
            </a:r>
            <a:endParaRPr lang="en-US" sz="1400" dirty="0"/>
          </a:p>
        </p:txBody>
      </p:sp>
      <p:sp>
        <p:nvSpPr>
          <p:cNvPr id="29" name="Text 27"/>
          <p:cNvSpPr/>
          <p:nvPr/>
        </p:nvSpPr>
        <p:spPr>
          <a:xfrm>
            <a:off x="2532888" y="4754880"/>
            <a:ext cx="182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5E6C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</a:t>
            </a:r>
            <a:endParaRPr lang="en-US" sz="1800" dirty="0"/>
          </a:p>
        </p:txBody>
      </p:sp>
      <p:sp>
        <p:nvSpPr>
          <p:cNvPr id="30" name="Shape 28"/>
          <p:cNvSpPr/>
          <p:nvPr/>
        </p:nvSpPr>
        <p:spPr>
          <a:xfrm>
            <a:off x="2697480" y="4535424"/>
            <a:ext cx="1783080" cy="731520"/>
          </a:xfrm>
          <a:prstGeom prst="roundRect">
            <a:avLst>
              <a:gd name="adj" fmla="val 6250"/>
            </a:avLst>
          </a:prstGeom>
          <a:solidFill>
            <a:srgbClr val="FFFFFF"/>
          </a:solidFill>
          <a:ln w="15240">
            <a:solidFill>
              <a:srgbClr val="087F75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2816352" y="4681728"/>
            <a:ext cx="154533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D29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Repeat reports</a:t>
            </a:r>
            <a:endParaRPr lang="en-US" sz="1400" dirty="0"/>
          </a:p>
        </p:txBody>
      </p:sp>
      <p:sp>
        <p:nvSpPr>
          <p:cNvPr id="32" name="Text 30"/>
          <p:cNvSpPr/>
          <p:nvPr/>
        </p:nvSpPr>
        <p:spPr>
          <a:xfrm>
            <a:off x="4517136" y="4754880"/>
            <a:ext cx="182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5E6C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</a:t>
            </a:r>
            <a:endParaRPr lang="en-US" sz="1800" dirty="0"/>
          </a:p>
        </p:txBody>
      </p:sp>
      <p:sp>
        <p:nvSpPr>
          <p:cNvPr id="33" name="Shape 31"/>
          <p:cNvSpPr/>
          <p:nvPr/>
        </p:nvSpPr>
        <p:spPr>
          <a:xfrm>
            <a:off x="4681728" y="4535424"/>
            <a:ext cx="1783080" cy="731520"/>
          </a:xfrm>
          <a:prstGeom prst="roundRect">
            <a:avLst>
              <a:gd name="adj" fmla="val 6250"/>
            </a:avLst>
          </a:prstGeom>
          <a:solidFill>
            <a:srgbClr val="FFFFFF"/>
          </a:solidFill>
          <a:ln w="15240">
            <a:solidFill>
              <a:srgbClr val="2A9D8F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4800600" y="4681728"/>
            <a:ext cx="154533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D29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Nearby confirmation</a:t>
            </a:r>
            <a:endParaRPr lang="en-US" sz="1400" dirty="0"/>
          </a:p>
        </p:txBody>
      </p:sp>
      <p:sp>
        <p:nvSpPr>
          <p:cNvPr id="35" name="Text 33"/>
          <p:cNvSpPr/>
          <p:nvPr/>
        </p:nvSpPr>
        <p:spPr>
          <a:xfrm>
            <a:off x="6501384" y="4754880"/>
            <a:ext cx="182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5E6C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</a:t>
            </a:r>
            <a:endParaRPr lang="en-US" sz="1800" dirty="0"/>
          </a:p>
        </p:txBody>
      </p:sp>
      <p:sp>
        <p:nvSpPr>
          <p:cNvPr id="36" name="Shape 34"/>
          <p:cNvSpPr/>
          <p:nvPr/>
        </p:nvSpPr>
        <p:spPr>
          <a:xfrm>
            <a:off x="6665976" y="4535424"/>
            <a:ext cx="1783080" cy="731520"/>
          </a:xfrm>
          <a:prstGeom prst="roundRect">
            <a:avLst>
              <a:gd name="adj" fmla="val 6250"/>
            </a:avLst>
          </a:prstGeom>
          <a:solidFill>
            <a:srgbClr val="FBEAEA"/>
          </a:solidFill>
          <a:ln w="15240">
            <a:solidFill>
              <a:srgbClr val="C84444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6784848" y="4681728"/>
            <a:ext cx="154533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D29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Disputes</a:t>
            </a:r>
            <a:endParaRPr lang="en-US" sz="1400" dirty="0"/>
          </a:p>
        </p:txBody>
      </p:sp>
      <p:sp>
        <p:nvSpPr>
          <p:cNvPr id="38" name="Text 36"/>
          <p:cNvSpPr/>
          <p:nvPr/>
        </p:nvSpPr>
        <p:spPr>
          <a:xfrm>
            <a:off x="8485632" y="4754880"/>
            <a:ext cx="182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5E6C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</a:t>
            </a:r>
            <a:endParaRPr lang="en-US" sz="1800" dirty="0"/>
          </a:p>
        </p:txBody>
      </p:sp>
      <p:sp>
        <p:nvSpPr>
          <p:cNvPr id="39" name="Shape 37"/>
          <p:cNvSpPr/>
          <p:nvPr/>
        </p:nvSpPr>
        <p:spPr>
          <a:xfrm>
            <a:off x="8650224" y="4535424"/>
            <a:ext cx="1783080" cy="731520"/>
          </a:xfrm>
          <a:prstGeom prst="roundRect">
            <a:avLst>
              <a:gd name="adj" fmla="val 6250"/>
            </a:avLst>
          </a:prstGeom>
          <a:solidFill>
            <a:srgbClr val="FFF4DB"/>
          </a:solidFill>
          <a:ln w="15240">
            <a:solidFill>
              <a:srgbClr val="D28A22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8769096" y="4681728"/>
            <a:ext cx="154533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D29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Time unresolved</a:t>
            </a:r>
            <a:endParaRPr lang="en-US" sz="1400" dirty="0"/>
          </a:p>
        </p:txBody>
      </p:sp>
      <p:sp>
        <p:nvSpPr>
          <p:cNvPr id="41" name="Shape 39"/>
          <p:cNvSpPr/>
          <p:nvPr/>
        </p:nvSpPr>
        <p:spPr>
          <a:xfrm>
            <a:off x="10652760" y="4901184"/>
            <a:ext cx="384048" cy="0"/>
          </a:xfrm>
          <a:prstGeom prst="line">
            <a:avLst/>
          </a:prstGeom>
          <a:noFill/>
          <a:ln w="25400">
            <a:solidFill>
              <a:srgbClr val="087F75"/>
            </a:solidFill>
            <a:prstDash val="solid"/>
            <a:tailEnd type="triangle"/>
          </a:ln>
        </p:spPr>
      </p:sp>
      <p:sp>
        <p:nvSpPr>
          <p:cNvPr id="42" name="Text 40"/>
          <p:cNvSpPr/>
          <p:nvPr/>
        </p:nvSpPr>
        <p:spPr>
          <a:xfrm>
            <a:off x="11009376" y="4608576"/>
            <a:ext cx="6858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87F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Priority queue</a:t>
            </a:r>
            <a:endParaRPr lang="en-US" sz="1400" dirty="0"/>
          </a:p>
        </p:txBody>
      </p:sp>
      <p:sp>
        <p:nvSpPr>
          <p:cNvPr id="43" name="Text 41"/>
          <p:cNvSpPr/>
          <p:nvPr/>
        </p:nvSpPr>
        <p:spPr>
          <a:xfrm>
            <a:off x="731520" y="5559552"/>
            <a:ext cx="108813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50" dirty="0">
                <a:solidFill>
                  <a:srgbClr val="5E6C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human override locks the selected priority until the officer returns the ticket to automatic scoring.</a:t>
            </a:r>
            <a:endParaRPr lang="en-US" sz="15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09960" y="6437376"/>
            <a:ext cx="45720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7A8798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21792" y="420624"/>
            <a:ext cx="100584" cy="429768"/>
          </a:xfrm>
          <a:prstGeom prst="rect">
            <a:avLst/>
          </a:prstGeom>
          <a:solidFill>
            <a:srgbClr val="087F75"/>
          </a:solidFill>
          <a:ln w="12700">
            <a:solidFill>
              <a:srgbClr val="087F75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841248" y="347472"/>
            <a:ext cx="10607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900" b="1" dirty="0">
                <a:solidFill>
                  <a:srgbClr val="1D29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Key features</a:t>
            </a:r>
            <a:endParaRPr lang="en-US" sz="2900" dirty="0"/>
          </a:p>
        </p:txBody>
      </p:sp>
      <p:sp>
        <p:nvSpPr>
          <p:cNvPr id="4" name="Text 2"/>
          <p:cNvSpPr/>
          <p:nvPr/>
        </p:nvSpPr>
        <p:spPr>
          <a:xfrm>
            <a:off x="850392" y="850392"/>
            <a:ext cx="10469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5E6C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product combines reporting, community evidence, emergency support, and public visibility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731520" y="1335024"/>
            <a:ext cx="2907792" cy="5074920"/>
          </a:xfrm>
          <a:prstGeom prst="roundRect">
            <a:avLst>
              <a:gd name="adj" fmla="val 3774"/>
            </a:avLst>
          </a:prstGeom>
          <a:solidFill>
            <a:srgbClr val="FFFFFF"/>
          </a:solidFill>
          <a:ln w="12700">
            <a:solidFill>
              <a:srgbClr val="D7DEE7"/>
            </a:solidFill>
            <a:prstDash val="solid"/>
          </a:ln>
          <a:effectLst>
            <a:outerShdw sx="100000" sy="100000" kx="0" ky="0" algn="bl" rotWithShape="0" blurRad="322580000" dist="645160000" dir="162000000000">
              <a:srgbClr val="8090A4">
                <a:alpha val="1800000000"/>
              </a:srgbClr>
            </a:outerShdw>
          </a:effectLst>
        </p:spPr>
      </p:sp>
      <p:pic>
        <p:nvPicPr>
          <p:cNvPr id="6" name="Image 0" descr="Sahayatri citizen mobile workspace with report and SOS actions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896112" y="1499616"/>
            <a:ext cx="2578608" cy="4745736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024128" y="6089904"/>
            <a:ext cx="23317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Citizen mobile workspace</a:t>
            </a:r>
            <a:endParaRPr lang="en-US" sz="950" dirty="0"/>
          </a:p>
        </p:txBody>
      </p:sp>
      <p:sp>
        <p:nvSpPr>
          <p:cNvPr id="8" name="Shape 5"/>
          <p:cNvSpPr/>
          <p:nvPr/>
        </p:nvSpPr>
        <p:spPr>
          <a:xfrm>
            <a:off x="4160520" y="1408176"/>
            <a:ext cx="109728" cy="109728"/>
          </a:xfrm>
          <a:prstGeom prst="ellipse">
            <a:avLst/>
          </a:prstGeom>
          <a:solidFill>
            <a:srgbClr val="087F75"/>
          </a:solidFill>
          <a:ln w="12700">
            <a:solidFill>
              <a:srgbClr val="087F75">
                <a:alpha val="0"/>
              </a:srgbClr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4407408" y="1353312"/>
            <a:ext cx="19933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50" b="1" dirty="0">
                <a:solidFill>
                  <a:srgbClr val="1D29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Issue reporting</a:t>
            </a:r>
            <a:endParaRPr lang="en-US" sz="1750" dirty="0"/>
          </a:p>
        </p:txBody>
      </p:sp>
      <p:sp>
        <p:nvSpPr>
          <p:cNvPr id="10" name="Text 7"/>
          <p:cNvSpPr/>
          <p:nvPr/>
        </p:nvSpPr>
        <p:spPr>
          <a:xfrm>
            <a:off x="6455664" y="1344168"/>
            <a:ext cx="5010912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5E6C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Photo and GPS submission, ward routing, public ticket code, and status tracking</a:t>
            </a:r>
            <a:endParaRPr lang="en-US" sz="1500" dirty="0"/>
          </a:p>
        </p:txBody>
      </p:sp>
      <p:sp>
        <p:nvSpPr>
          <p:cNvPr id="11" name="Shape 8"/>
          <p:cNvSpPr/>
          <p:nvPr/>
        </p:nvSpPr>
        <p:spPr>
          <a:xfrm>
            <a:off x="4407408" y="1920240"/>
            <a:ext cx="7059168" cy="0"/>
          </a:xfrm>
          <a:prstGeom prst="line">
            <a:avLst/>
          </a:prstGeom>
          <a:noFill/>
          <a:ln w="12700">
            <a:solidFill>
              <a:srgbClr val="D7DEE7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4160520" y="2157984"/>
            <a:ext cx="109728" cy="109728"/>
          </a:xfrm>
          <a:prstGeom prst="ellipse">
            <a:avLst/>
          </a:prstGeom>
          <a:solidFill>
            <a:srgbClr val="087F75"/>
          </a:solidFill>
          <a:ln w="12700">
            <a:solidFill>
              <a:srgbClr val="087F75">
                <a:alpha val="0"/>
              </a:srgbClr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4407408" y="2103120"/>
            <a:ext cx="19933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50" b="1" dirty="0">
                <a:solidFill>
                  <a:srgbClr val="1D29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Community evidence</a:t>
            </a:r>
            <a:endParaRPr lang="en-US" sz="1750" dirty="0"/>
          </a:p>
        </p:txBody>
      </p:sp>
      <p:sp>
        <p:nvSpPr>
          <p:cNvPr id="14" name="Text 11"/>
          <p:cNvSpPr/>
          <p:nvPr/>
        </p:nvSpPr>
        <p:spPr>
          <a:xfrm>
            <a:off x="6455664" y="2093976"/>
            <a:ext cx="5010912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5E6C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Nearby corroboration, dispute handling, and duplicate reports joined under one parent</a:t>
            </a:r>
            <a:endParaRPr lang="en-US" sz="1500" dirty="0"/>
          </a:p>
        </p:txBody>
      </p:sp>
      <p:sp>
        <p:nvSpPr>
          <p:cNvPr id="15" name="Shape 12"/>
          <p:cNvSpPr/>
          <p:nvPr/>
        </p:nvSpPr>
        <p:spPr>
          <a:xfrm>
            <a:off x="4407408" y="2670048"/>
            <a:ext cx="7059168" cy="0"/>
          </a:xfrm>
          <a:prstGeom prst="line">
            <a:avLst/>
          </a:prstGeom>
          <a:noFill/>
          <a:ln w="12700">
            <a:solidFill>
              <a:srgbClr val="D7DEE7"/>
            </a:solidFill>
            <a:prstDash val="solid"/>
          </a:ln>
        </p:spPr>
      </p:sp>
      <p:sp>
        <p:nvSpPr>
          <p:cNvPr id="16" name="Shape 13"/>
          <p:cNvSpPr/>
          <p:nvPr/>
        </p:nvSpPr>
        <p:spPr>
          <a:xfrm>
            <a:off x="4160520" y="2907792"/>
            <a:ext cx="109728" cy="109728"/>
          </a:xfrm>
          <a:prstGeom prst="ellipse">
            <a:avLst/>
          </a:prstGeom>
          <a:solidFill>
            <a:srgbClr val="087F75"/>
          </a:solidFill>
          <a:ln w="12700">
            <a:solidFill>
              <a:srgbClr val="087F75">
                <a:alpha val="0"/>
              </a:srgbClr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4407408" y="2852928"/>
            <a:ext cx="19933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50" b="1" dirty="0">
                <a:solidFill>
                  <a:srgbClr val="1D29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Emergency support</a:t>
            </a:r>
            <a:endParaRPr lang="en-US" sz="1750" dirty="0"/>
          </a:p>
        </p:txBody>
      </p:sp>
      <p:sp>
        <p:nvSpPr>
          <p:cNvPr id="18" name="Text 15"/>
          <p:cNvSpPr/>
          <p:nvPr/>
        </p:nvSpPr>
        <p:spPr>
          <a:xfrm>
            <a:off x="6455664" y="2843784"/>
            <a:ext cx="5010912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5E6C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One tap SOS, targeted public alerts, and an offline civic service directory</a:t>
            </a:r>
            <a:endParaRPr lang="en-US" sz="1500" dirty="0"/>
          </a:p>
        </p:txBody>
      </p:sp>
      <p:sp>
        <p:nvSpPr>
          <p:cNvPr id="19" name="Shape 16"/>
          <p:cNvSpPr/>
          <p:nvPr/>
        </p:nvSpPr>
        <p:spPr>
          <a:xfrm>
            <a:off x="4407408" y="3419856"/>
            <a:ext cx="7059168" cy="0"/>
          </a:xfrm>
          <a:prstGeom prst="line">
            <a:avLst/>
          </a:prstGeom>
          <a:noFill/>
          <a:ln w="12700">
            <a:solidFill>
              <a:srgbClr val="D7DEE7"/>
            </a:solidFill>
            <a:prstDash val="solid"/>
          </a:ln>
        </p:spPr>
      </p:sp>
      <p:sp>
        <p:nvSpPr>
          <p:cNvPr id="20" name="Shape 17"/>
          <p:cNvSpPr/>
          <p:nvPr/>
        </p:nvSpPr>
        <p:spPr>
          <a:xfrm>
            <a:off x="4160520" y="3657600"/>
            <a:ext cx="109728" cy="109728"/>
          </a:xfrm>
          <a:prstGeom prst="ellipse">
            <a:avLst/>
          </a:prstGeom>
          <a:solidFill>
            <a:srgbClr val="087F75"/>
          </a:solidFill>
          <a:ln w="12700">
            <a:solidFill>
              <a:srgbClr val="087F75">
                <a:alpha val="0"/>
              </a:srgbClr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4407408" y="3602736"/>
            <a:ext cx="19933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50" b="1" dirty="0">
                <a:solidFill>
                  <a:srgbClr val="1D29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Hazard aware travel</a:t>
            </a:r>
            <a:endParaRPr lang="en-US" sz="1750" dirty="0"/>
          </a:p>
        </p:txBody>
      </p:sp>
      <p:sp>
        <p:nvSpPr>
          <p:cNvPr id="22" name="Text 19"/>
          <p:cNvSpPr/>
          <p:nvPr/>
        </p:nvSpPr>
        <p:spPr>
          <a:xfrm>
            <a:off x="6455664" y="3593592"/>
            <a:ext cx="5010912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5E6C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Map of active hazards with route options for walking, wheelchair use, and driving</a:t>
            </a:r>
            <a:endParaRPr lang="en-US" sz="1500" dirty="0"/>
          </a:p>
        </p:txBody>
      </p:sp>
      <p:sp>
        <p:nvSpPr>
          <p:cNvPr id="23" name="Shape 20"/>
          <p:cNvSpPr/>
          <p:nvPr/>
        </p:nvSpPr>
        <p:spPr>
          <a:xfrm>
            <a:off x="4407408" y="4169664"/>
            <a:ext cx="7059168" cy="0"/>
          </a:xfrm>
          <a:prstGeom prst="line">
            <a:avLst/>
          </a:prstGeom>
          <a:noFill/>
          <a:ln w="12700">
            <a:solidFill>
              <a:srgbClr val="D7DEE7"/>
            </a:solidFill>
            <a:prstDash val="solid"/>
          </a:ln>
        </p:spPr>
      </p:sp>
      <p:sp>
        <p:nvSpPr>
          <p:cNvPr id="24" name="Shape 21"/>
          <p:cNvSpPr/>
          <p:nvPr/>
        </p:nvSpPr>
        <p:spPr>
          <a:xfrm>
            <a:off x="4160520" y="4407408"/>
            <a:ext cx="109728" cy="109728"/>
          </a:xfrm>
          <a:prstGeom prst="ellipse">
            <a:avLst/>
          </a:prstGeom>
          <a:solidFill>
            <a:srgbClr val="087F75"/>
          </a:solidFill>
          <a:ln w="12700">
            <a:solidFill>
              <a:srgbClr val="087F75">
                <a:alpha val="0"/>
              </a:srgbClr>
            </a:solidFill>
            <a:prstDash val="solid"/>
          </a:ln>
        </p:spPr>
      </p:sp>
      <p:sp>
        <p:nvSpPr>
          <p:cNvPr id="25" name="Text 22"/>
          <p:cNvSpPr/>
          <p:nvPr/>
        </p:nvSpPr>
        <p:spPr>
          <a:xfrm>
            <a:off x="4407408" y="4352544"/>
            <a:ext cx="19933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50" b="1" dirty="0">
                <a:solidFill>
                  <a:srgbClr val="1D29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Inclusive access</a:t>
            </a:r>
            <a:endParaRPr lang="en-US" sz="1750" dirty="0"/>
          </a:p>
        </p:txBody>
      </p:sp>
      <p:sp>
        <p:nvSpPr>
          <p:cNvPr id="26" name="Text 23"/>
          <p:cNvSpPr/>
          <p:nvPr/>
        </p:nvSpPr>
        <p:spPr>
          <a:xfrm>
            <a:off x="6455664" y="4343400"/>
            <a:ext cx="5010912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5E6C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Nepali and English, high contrast, large text, and text to speech before sign in</a:t>
            </a:r>
            <a:endParaRPr lang="en-US" sz="1500" dirty="0"/>
          </a:p>
        </p:txBody>
      </p:sp>
      <p:sp>
        <p:nvSpPr>
          <p:cNvPr id="27" name="Shape 24"/>
          <p:cNvSpPr/>
          <p:nvPr/>
        </p:nvSpPr>
        <p:spPr>
          <a:xfrm>
            <a:off x="4407408" y="4919472"/>
            <a:ext cx="7059168" cy="0"/>
          </a:xfrm>
          <a:prstGeom prst="line">
            <a:avLst/>
          </a:prstGeom>
          <a:noFill/>
          <a:ln w="12700">
            <a:solidFill>
              <a:srgbClr val="D7DEE7"/>
            </a:solidFill>
            <a:prstDash val="solid"/>
          </a:ln>
        </p:spPr>
      </p:sp>
      <p:sp>
        <p:nvSpPr>
          <p:cNvPr id="28" name="Shape 25"/>
          <p:cNvSpPr/>
          <p:nvPr/>
        </p:nvSpPr>
        <p:spPr>
          <a:xfrm>
            <a:off x="4160520" y="5157216"/>
            <a:ext cx="109728" cy="109728"/>
          </a:xfrm>
          <a:prstGeom prst="ellipse">
            <a:avLst/>
          </a:prstGeom>
          <a:solidFill>
            <a:srgbClr val="087F75"/>
          </a:solidFill>
          <a:ln w="12700">
            <a:solidFill>
              <a:srgbClr val="087F75">
                <a:alpha val="0"/>
              </a:srgbClr>
            </a:solidFill>
            <a:prstDash val="solid"/>
          </a:ln>
        </p:spPr>
      </p:sp>
      <p:sp>
        <p:nvSpPr>
          <p:cNvPr id="29" name="Text 26"/>
          <p:cNvSpPr/>
          <p:nvPr/>
        </p:nvSpPr>
        <p:spPr>
          <a:xfrm>
            <a:off x="4407408" y="5102352"/>
            <a:ext cx="19933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50" b="1" dirty="0">
                <a:solidFill>
                  <a:srgbClr val="1D29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Public accountability</a:t>
            </a:r>
            <a:endParaRPr lang="en-US" sz="1750" dirty="0"/>
          </a:p>
        </p:txBody>
      </p:sp>
      <p:sp>
        <p:nvSpPr>
          <p:cNvPr id="30" name="Text 27"/>
          <p:cNvSpPr/>
          <p:nvPr/>
        </p:nvSpPr>
        <p:spPr>
          <a:xfrm>
            <a:off x="6455664" y="5093208"/>
            <a:ext cx="5010912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5E6C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Aggregate dashboard, notifications, ticket timelines, and shared discussion threads</a:t>
            </a:r>
            <a:endParaRPr lang="en-US" sz="1500" dirty="0"/>
          </a:p>
        </p:txBody>
      </p:sp>
      <p:sp>
        <p:nvSpPr>
          <p:cNvPr id="31" name="Shape 28"/>
          <p:cNvSpPr/>
          <p:nvPr/>
        </p:nvSpPr>
        <p:spPr>
          <a:xfrm>
            <a:off x="4407408" y="5669280"/>
            <a:ext cx="7059168" cy="0"/>
          </a:xfrm>
          <a:prstGeom prst="line">
            <a:avLst/>
          </a:prstGeom>
          <a:noFill/>
          <a:ln w="12700">
            <a:solidFill>
              <a:srgbClr val="D7DEE7"/>
            </a:solidFill>
            <a:prstDash val="solid"/>
          </a:ln>
        </p:spPr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09960" y="6437376"/>
            <a:ext cx="45720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7A8798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21792" y="420624"/>
            <a:ext cx="100584" cy="429768"/>
          </a:xfrm>
          <a:prstGeom prst="rect">
            <a:avLst/>
          </a:prstGeom>
          <a:solidFill>
            <a:srgbClr val="087F75"/>
          </a:solidFill>
          <a:ln w="12700">
            <a:solidFill>
              <a:srgbClr val="087F75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841248" y="347472"/>
            <a:ext cx="10607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900" b="1" dirty="0">
                <a:solidFill>
                  <a:srgbClr val="1D29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Technology stack</a:t>
            </a:r>
            <a:endParaRPr lang="en-US" sz="2900" dirty="0"/>
          </a:p>
        </p:txBody>
      </p:sp>
      <p:sp>
        <p:nvSpPr>
          <p:cNvPr id="4" name="Text 2"/>
          <p:cNvSpPr/>
          <p:nvPr/>
        </p:nvSpPr>
        <p:spPr>
          <a:xfrm>
            <a:off x="850392" y="850392"/>
            <a:ext cx="10469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5E6C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web and data architecture designed for modest infrastructure and clear security boundaries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731520" y="1417320"/>
            <a:ext cx="10744200" cy="841248"/>
          </a:xfrm>
          <a:prstGeom prst="roundRect">
            <a:avLst>
              <a:gd name="adj" fmla="val 5435"/>
            </a:avLst>
          </a:prstGeom>
          <a:solidFill>
            <a:srgbClr val="EAF1F6"/>
          </a:solidFill>
          <a:ln w="13970">
            <a:solidFill>
              <a:srgbClr val="26364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60120" y="1581912"/>
            <a:ext cx="1965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00" b="1" dirty="0">
                <a:solidFill>
                  <a:srgbClr val="2636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User experience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3127248" y="1527048"/>
            <a:ext cx="605332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50" b="1" dirty="0">
                <a:solidFill>
                  <a:srgbClr val="1D29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React 19  •  TypeScript  •  Vite  •  Tailwind CSS  •  PWA  •  Leaflet  •  Recharts</a:t>
            </a:r>
            <a:endParaRPr lang="en-US" sz="1550" dirty="0"/>
          </a:p>
        </p:txBody>
      </p:sp>
      <p:sp>
        <p:nvSpPr>
          <p:cNvPr id="8" name="Text 6"/>
          <p:cNvSpPr/>
          <p:nvPr/>
        </p:nvSpPr>
        <p:spPr>
          <a:xfrm>
            <a:off x="3127248" y="1883664"/>
            <a:ext cx="605332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5E6C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Responsive citizen and authority workspaces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9875520" y="1609344"/>
            <a:ext cx="448056" cy="448056"/>
          </a:xfrm>
          <a:prstGeom prst="ellipse">
            <a:avLst/>
          </a:prstGeom>
          <a:solidFill>
            <a:srgbClr val="26364F"/>
          </a:solidFill>
          <a:ln w="12700">
            <a:solidFill>
              <a:srgbClr val="26364F">
                <a:alpha val="0"/>
              </a:srgbClr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875520" y="1600200"/>
            <a:ext cx="44805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700" dirty="0"/>
          </a:p>
        </p:txBody>
      </p:sp>
      <p:sp>
        <p:nvSpPr>
          <p:cNvPr id="11" name="Shape 9"/>
          <p:cNvSpPr/>
          <p:nvPr/>
        </p:nvSpPr>
        <p:spPr>
          <a:xfrm>
            <a:off x="731520" y="2487168"/>
            <a:ext cx="10744200" cy="841248"/>
          </a:xfrm>
          <a:prstGeom prst="roundRect">
            <a:avLst>
              <a:gd name="adj" fmla="val 5435"/>
            </a:avLst>
          </a:prstGeom>
          <a:solidFill>
            <a:srgbClr val="DDF7F1"/>
          </a:solidFill>
          <a:ln w="13970">
            <a:solidFill>
              <a:srgbClr val="087F75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960120" y="2651760"/>
            <a:ext cx="1965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00" b="1" dirty="0">
                <a:solidFill>
                  <a:srgbClr val="087F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 API</a:t>
            </a:r>
            <a:endParaRPr lang="en-US" sz="1700" dirty="0"/>
          </a:p>
        </p:txBody>
      </p:sp>
      <p:sp>
        <p:nvSpPr>
          <p:cNvPr id="13" name="Text 11"/>
          <p:cNvSpPr/>
          <p:nvPr/>
        </p:nvSpPr>
        <p:spPr>
          <a:xfrm>
            <a:off x="3127248" y="2596896"/>
            <a:ext cx="605332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50" b="1" dirty="0">
                <a:solidFill>
                  <a:srgbClr val="1D29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FastAPI  •  Pydantic  •  REST endpoints  •  Role and ward authorization</a:t>
            </a:r>
            <a:endParaRPr lang="en-US" sz="1550" dirty="0"/>
          </a:p>
        </p:txBody>
      </p:sp>
      <p:sp>
        <p:nvSpPr>
          <p:cNvPr id="14" name="Text 12"/>
          <p:cNvSpPr/>
          <p:nvPr/>
        </p:nvSpPr>
        <p:spPr>
          <a:xfrm>
            <a:off x="3127248" y="2953512"/>
            <a:ext cx="605332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5E6C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Business rules and access checks in one service layer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9875520" y="2679192"/>
            <a:ext cx="448056" cy="448056"/>
          </a:xfrm>
          <a:prstGeom prst="ellipse">
            <a:avLst/>
          </a:prstGeom>
          <a:solidFill>
            <a:srgbClr val="087F75"/>
          </a:solidFill>
          <a:ln w="12700">
            <a:solidFill>
              <a:srgbClr val="087F75">
                <a:alpha val="0"/>
              </a:srgbClr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9875520" y="2670048"/>
            <a:ext cx="44805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700" dirty="0"/>
          </a:p>
        </p:txBody>
      </p:sp>
      <p:sp>
        <p:nvSpPr>
          <p:cNvPr id="17" name="Shape 15"/>
          <p:cNvSpPr/>
          <p:nvPr/>
        </p:nvSpPr>
        <p:spPr>
          <a:xfrm>
            <a:off x="731520" y="3557016"/>
            <a:ext cx="10744200" cy="841248"/>
          </a:xfrm>
          <a:prstGeom prst="roundRect">
            <a:avLst>
              <a:gd name="adj" fmla="val 5435"/>
            </a:avLst>
          </a:prstGeom>
          <a:solidFill>
            <a:srgbClr val="EEF1F5"/>
          </a:solidFill>
          <a:ln w="13970">
            <a:solidFill>
              <a:srgbClr val="526176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960120" y="3721608"/>
            <a:ext cx="1965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00" b="1" dirty="0">
                <a:solidFill>
                  <a:srgbClr val="52617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 and identity</a:t>
            </a:r>
            <a:endParaRPr lang="en-US" sz="1700" dirty="0"/>
          </a:p>
        </p:txBody>
      </p:sp>
      <p:sp>
        <p:nvSpPr>
          <p:cNvPr id="19" name="Text 17"/>
          <p:cNvSpPr/>
          <p:nvPr/>
        </p:nvSpPr>
        <p:spPr>
          <a:xfrm>
            <a:off x="3127248" y="3666744"/>
            <a:ext cx="605332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50" b="1" dirty="0">
                <a:solidFill>
                  <a:srgbClr val="1D29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PostgreSQL  •  pgvector  •  SQLAlchemy  •  Alembic  •  Supabase Auth and Storage</a:t>
            </a:r>
            <a:endParaRPr lang="en-US" sz="1550" dirty="0"/>
          </a:p>
        </p:txBody>
      </p:sp>
      <p:sp>
        <p:nvSpPr>
          <p:cNvPr id="20" name="Text 18"/>
          <p:cNvSpPr/>
          <p:nvPr/>
        </p:nvSpPr>
        <p:spPr>
          <a:xfrm>
            <a:off x="3127248" y="4023360"/>
            <a:ext cx="605332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5E6C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Private photos and locked direct browser access</a:t>
            </a:r>
            <a:endParaRPr lang="en-US" sz="1150" dirty="0"/>
          </a:p>
        </p:txBody>
      </p:sp>
      <p:sp>
        <p:nvSpPr>
          <p:cNvPr id="21" name="Shape 19"/>
          <p:cNvSpPr/>
          <p:nvPr/>
        </p:nvSpPr>
        <p:spPr>
          <a:xfrm>
            <a:off x="9875520" y="3749040"/>
            <a:ext cx="448056" cy="448056"/>
          </a:xfrm>
          <a:prstGeom prst="ellipse">
            <a:avLst/>
          </a:prstGeom>
          <a:solidFill>
            <a:srgbClr val="526176"/>
          </a:solidFill>
          <a:ln w="12700">
            <a:solidFill>
              <a:srgbClr val="526176">
                <a:alpha val="0"/>
              </a:srgbClr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9875520" y="3739896"/>
            <a:ext cx="44805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700" dirty="0"/>
          </a:p>
        </p:txBody>
      </p:sp>
      <p:sp>
        <p:nvSpPr>
          <p:cNvPr id="23" name="Shape 21"/>
          <p:cNvSpPr/>
          <p:nvPr/>
        </p:nvSpPr>
        <p:spPr>
          <a:xfrm>
            <a:off x="731520" y="4626864"/>
            <a:ext cx="10744200" cy="841248"/>
          </a:xfrm>
          <a:prstGeom prst="roundRect">
            <a:avLst>
              <a:gd name="adj" fmla="val 5435"/>
            </a:avLst>
          </a:prstGeom>
          <a:solidFill>
            <a:srgbClr val="FFF4DB"/>
          </a:solidFill>
          <a:ln w="13970">
            <a:solidFill>
              <a:srgbClr val="D28A22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960120" y="4791456"/>
            <a:ext cx="1965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00" b="1" dirty="0">
                <a:solidFill>
                  <a:srgbClr val="D28A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Matching and ML</a:t>
            </a:r>
            <a:endParaRPr lang="en-US" sz="1700" dirty="0"/>
          </a:p>
        </p:txBody>
      </p:sp>
      <p:sp>
        <p:nvSpPr>
          <p:cNvPr id="25" name="Text 23"/>
          <p:cNvSpPr/>
          <p:nvPr/>
        </p:nvSpPr>
        <p:spPr>
          <a:xfrm>
            <a:off x="3127248" y="4736592"/>
            <a:ext cx="605332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50" b="1" dirty="0">
                <a:solidFill>
                  <a:srgbClr val="1D29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scikit-learn  •  TF-IDF  •  SVD 256  •  Logistic Regression  •  Pillow and ImageHash</a:t>
            </a:r>
            <a:endParaRPr lang="en-US" sz="1550" dirty="0"/>
          </a:p>
        </p:txBody>
      </p:sp>
      <p:sp>
        <p:nvSpPr>
          <p:cNvPr id="26" name="Text 24"/>
          <p:cNvSpPr/>
          <p:nvPr/>
        </p:nvSpPr>
        <p:spPr>
          <a:xfrm>
            <a:off x="3127248" y="5093208"/>
            <a:ext cx="605332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5E6C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Laptop friendly models with no GPU dependency</a:t>
            </a:r>
            <a:endParaRPr lang="en-US" sz="1150" dirty="0"/>
          </a:p>
        </p:txBody>
      </p:sp>
      <p:sp>
        <p:nvSpPr>
          <p:cNvPr id="27" name="Shape 25"/>
          <p:cNvSpPr/>
          <p:nvPr/>
        </p:nvSpPr>
        <p:spPr>
          <a:xfrm>
            <a:off x="9875520" y="4818888"/>
            <a:ext cx="448056" cy="448056"/>
          </a:xfrm>
          <a:prstGeom prst="ellipse">
            <a:avLst/>
          </a:prstGeom>
          <a:solidFill>
            <a:srgbClr val="D28A22"/>
          </a:solidFill>
          <a:ln w="12700">
            <a:solidFill>
              <a:srgbClr val="D28A22">
                <a:alpha val="0"/>
              </a:srgbClr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9875520" y="4809744"/>
            <a:ext cx="44805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700" dirty="0"/>
          </a:p>
        </p:txBody>
      </p:sp>
      <p:sp>
        <p:nvSpPr>
          <p:cNvPr id="29" name="Text 27"/>
          <p:cNvSpPr/>
          <p:nvPr/>
        </p:nvSpPr>
        <p:spPr>
          <a:xfrm>
            <a:off x="749808" y="5742432"/>
            <a:ext cx="14173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87F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Security boundary</a:t>
            </a:r>
            <a:endParaRPr lang="en-US" sz="1250" dirty="0"/>
          </a:p>
        </p:txBody>
      </p:sp>
      <p:sp>
        <p:nvSpPr>
          <p:cNvPr id="30" name="Text 28"/>
          <p:cNvSpPr/>
          <p:nvPr/>
        </p:nvSpPr>
        <p:spPr>
          <a:xfrm>
            <a:off x="2212848" y="5715000"/>
            <a:ext cx="9144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50" dirty="0">
                <a:solidFill>
                  <a:srgbClr val="5E6C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browser never receives the Supabase service role key. Every application table uses row level security with no browser policies.</a:t>
            </a:r>
            <a:endParaRPr lang="en-US" sz="14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09960" y="6437376"/>
            <a:ext cx="45720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7A8798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21792" y="420624"/>
            <a:ext cx="100584" cy="429768"/>
          </a:xfrm>
          <a:prstGeom prst="rect">
            <a:avLst/>
          </a:prstGeom>
          <a:solidFill>
            <a:srgbClr val="087F75"/>
          </a:solidFill>
          <a:ln w="12700">
            <a:solidFill>
              <a:srgbClr val="087F75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841248" y="347472"/>
            <a:ext cx="10607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900" b="1" dirty="0">
                <a:solidFill>
                  <a:srgbClr val="1D29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Measured behavior and transparency</a:t>
            </a:r>
            <a:endParaRPr lang="en-US" sz="2900" dirty="0"/>
          </a:p>
        </p:txBody>
      </p:sp>
      <p:sp>
        <p:nvSpPr>
          <p:cNvPr id="4" name="Text 2"/>
          <p:cNvSpPr/>
          <p:nvPr/>
        </p:nvSpPr>
        <p:spPr>
          <a:xfrm>
            <a:off x="850392" y="850392"/>
            <a:ext cx="10469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5E6C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project reports pipeline results honestly and exposes aggregate service progress</a:t>
            </a:r>
            <a:endParaRPr lang="en-US" sz="1250" dirty="0"/>
          </a:p>
        </p:txBody>
      </p:sp>
      <p:sp>
        <p:nvSpPr>
          <p:cNvPr id="5" name="Text 3"/>
          <p:cNvSpPr/>
          <p:nvPr/>
        </p:nvSpPr>
        <p:spPr>
          <a:xfrm>
            <a:off x="713232" y="1325880"/>
            <a:ext cx="3291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b="1" spc="90" kern="0" dirty="0">
                <a:solidFill>
                  <a:srgbClr val="087F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HELD OUT GENERATED DATA</a:t>
            </a:r>
            <a:endParaRPr lang="en-US" sz="1050" dirty="0"/>
          </a:p>
        </p:txBody>
      </p:sp>
      <p:sp>
        <p:nvSpPr>
          <p:cNvPr id="6" name="Text 4"/>
          <p:cNvSpPr/>
          <p:nvPr/>
        </p:nvSpPr>
        <p:spPr>
          <a:xfrm>
            <a:off x="713232" y="1618488"/>
            <a:ext cx="28346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600" b="1" dirty="0">
                <a:solidFill>
                  <a:srgbClr val="087F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100%</a:t>
            </a:r>
            <a:endParaRPr lang="en-US" sz="4600" dirty="0"/>
          </a:p>
        </p:txBody>
      </p:sp>
      <p:sp>
        <p:nvSpPr>
          <p:cNvPr id="7" name="Text 5"/>
          <p:cNvSpPr/>
          <p:nvPr/>
        </p:nvSpPr>
        <p:spPr>
          <a:xfrm>
            <a:off x="749808" y="2377440"/>
            <a:ext cx="29260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D29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duplicate recall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749808" y="2761488"/>
            <a:ext cx="34290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50" dirty="0">
                <a:solidFill>
                  <a:srgbClr val="5E6C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148 of 148 repeat reports matched to the correct parent</a:t>
            </a:r>
            <a:endParaRPr lang="en-US" sz="1550" dirty="0"/>
          </a:p>
        </p:txBody>
      </p:sp>
      <p:sp>
        <p:nvSpPr>
          <p:cNvPr id="9" name="Shape 7"/>
          <p:cNvSpPr/>
          <p:nvPr/>
        </p:nvSpPr>
        <p:spPr>
          <a:xfrm>
            <a:off x="749808" y="3520440"/>
            <a:ext cx="3401568" cy="0"/>
          </a:xfrm>
          <a:prstGeom prst="line">
            <a:avLst/>
          </a:prstGeom>
          <a:noFill/>
          <a:ln w="13970">
            <a:solidFill>
              <a:srgbClr val="D7DEE7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13232" y="3767328"/>
            <a:ext cx="28346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200" b="1" dirty="0">
                <a:solidFill>
                  <a:srgbClr val="1D29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2.8%</a:t>
            </a:r>
            <a:endParaRPr lang="en-US" sz="4200" dirty="0"/>
          </a:p>
        </p:txBody>
      </p:sp>
      <p:sp>
        <p:nvSpPr>
          <p:cNvPr id="11" name="Text 9"/>
          <p:cNvSpPr/>
          <p:nvPr/>
        </p:nvSpPr>
        <p:spPr>
          <a:xfrm>
            <a:off x="749808" y="4489704"/>
            <a:ext cx="3200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D29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false suggestion rate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749808" y="4873752"/>
            <a:ext cx="3429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50" dirty="0">
                <a:solidFill>
                  <a:srgbClr val="5E6C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 of 179 unrelated reports raised a suggestion</a:t>
            </a:r>
            <a:endParaRPr lang="en-US" sz="1550" dirty="0"/>
          </a:p>
        </p:txBody>
      </p:sp>
      <p:sp>
        <p:nvSpPr>
          <p:cNvPr id="13" name="Shape 11"/>
          <p:cNvSpPr/>
          <p:nvPr/>
        </p:nvSpPr>
        <p:spPr>
          <a:xfrm>
            <a:off x="713232" y="5550408"/>
            <a:ext cx="3493008" cy="566928"/>
          </a:xfrm>
          <a:prstGeom prst="roundRect">
            <a:avLst>
              <a:gd name="adj" fmla="val 6452"/>
            </a:avLst>
          </a:prstGeom>
          <a:solidFill>
            <a:srgbClr val="FFF4DB"/>
          </a:solidFill>
          <a:ln w="12700">
            <a:solidFill>
              <a:srgbClr val="D28A22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77824" y="5669280"/>
            <a:ext cx="316382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b="1" dirty="0">
                <a:solidFill>
                  <a:srgbClr val="76520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Caveat: these results measure generated reports, not real Kathmandu performance.</a:t>
            </a: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>
            <a:off x="4553712" y="1344168"/>
            <a:ext cx="6912864" cy="4526280"/>
          </a:xfrm>
          <a:prstGeom prst="roundRect">
            <a:avLst>
              <a:gd name="adj" fmla="val 1212"/>
            </a:avLst>
          </a:prstGeom>
          <a:solidFill>
            <a:srgbClr val="FFFFFF"/>
          </a:solidFill>
          <a:ln w="12700">
            <a:solidFill>
              <a:srgbClr val="D7DEE7"/>
            </a:solidFill>
            <a:prstDash val="solid"/>
          </a:ln>
          <a:effectLst>
            <a:outerShdw sx="100000" sy="100000" kx="0" ky="0" algn="bl" rotWithShape="0" blurRad="4096766000000" dist="8193532000000" dir="9720000000000000">
              <a:srgbClr val="8090A4">
                <a:alpha val="180000000000000"/>
              </a:srgbClr>
            </a:outerShdw>
          </a:effectLst>
        </p:spPr>
      </p:sp>
      <p:pic>
        <p:nvPicPr>
          <p:cNvPr id="16" name="Image 0" descr="Sahayatri public dashboard with aggregate municipal reporting metrics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4709160" y="1499616"/>
            <a:ext cx="6601968" cy="4215384"/>
          </a:xfrm>
          <a:prstGeom prst="rect">
            <a:avLst/>
          </a:prstGeom>
        </p:spPr>
      </p:pic>
      <p:sp>
        <p:nvSpPr>
          <p:cNvPr id="17" name="Text 14"/>
          <p:cNvSpPr/>
          <p:nvPr/>
        </p:nvSpPr>
        <p:spPr>
          <a:xfrm>
            <a:off x="4892040" y="5961888"/>
            <a:ext cx="6309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5E6C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Public transparency dashboard shown with test fixture data</a:t>
            </a:r>
            <a:endParaRPr lang="en-US" sz="10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09960" y="6437376"/>
            <a:ext cx="45720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7A8798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D29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D:\Hackathon2.0\ras\frontend\assets\Primary\Dark\Primary\Dark@2x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658368" y="512064"/>
            <a:ext cx="3063240" cy="82296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13232" y="1600200"/>
            <a:ext cx="47548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Conclusion</a:t>
            </a:r>
            <a:endParaRPr lang="en-US" sz="3400" dirty="0"/>
          </a:p>
        </p:txBody>
      </p:sp>
      <p:sp>
        <p:nvSpPr>
          <p:cNvPr id="4" name="Shape 1"/>
          <p:cNvSpPr/>
          <p:nvPr/>
        </p:nvSpPr>
        <p:spPr>
          <a:xfrm>
            <a:off x="749808" y="2468880"/>
            <a:ext cx="118872" cy="118872"/>
          </a:xfrm>
          <a:prstGeom prst="ellipse">
            <a:avLst/>
          </a:prstGeom>
          <a:solidFill>
            <a:srgbClr val="6ADBC6"/>
          </a:solidFill>
          <a:ln w="12700">
            <a:solidFill>
              <a:srgbClr val="6ADBC6">
                <a:alpha val="0"/>
              </a:srgbClr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1060704" y="2395728"/>
            <a:ext cx="525780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900" dirty="0">
                <a:solidFill>
                  <a:srgbClr val="E5EC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Repeat reports become one accountable ticket instead of separate queue noise.</a:t>
            </a:r>
            <a:endParaRPr lang="en-US" sz="1900" dirty="0"/>
          </a:p>
        </p:txBody>
      </p:sp>
      <p:sp>
        <p:nvSpPr>
          <p:cNvPr id="6" name="Shape 3"/>
          <p:cNvSpPr/>
          <p:nvPr/>
        </p:nvSpPr>
        <p:spPr>
          <a:xfrm>
            <a:off x="749808" y="3310128"/>
            <a:ext cx="118872" cy="118872"/>
          </a:xfrm>
          <a:prstGeom prst="ellipse">
            <a:avLst/>
          </a:prstGeom>
          <a:solidFill>
            <a:srgbClr val="6ADBC6"/>
          </a:solidFill>
          <a:ln w="12700">
            <a:solidFill>
              <a:srgbClr val="6ADBC6">
                <a:alpha val="0"/>
              </a:srgbClr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1060704" y="3236976"/>
            <a:ext cx="525780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900" dirty="0">
                <a:solidFill>
                  <a:srgbClr val="E5EC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Evidence and time determine priority, while officers keep final control.</a:t>
            </a:r>
            <a:endParaRPr lang="en-US" sz="1900" dirty="0"/>
          </a:p>
        </p:txBody>
      </p:sp>
      <p:sp>
        <p:nvSpPr>
          <p:cNvPr id="8" name="Shape 5"/>
          <p:cNvSpPr/>
          <p:nvPr/>
        </p:nvSpPr>
        <p:spPr>
          <a:xfrm>
            <a:off x="749808" y="4151376"/>
            <a:ext cx="118872" cy="118872"/>
          </a:xfrm>
          <a:prstGeom prst="ellipse">
            <a:avLst/>
          </a:prstGeom>
          <a:solidFill>
            <a:srgbClr val="6ADBC6"/>
          </a:solidFill>
          <a:ln w="12700">
            <a:solidFill>
              <a:srgbClr val="6ADBC6">
                <a:alpha val="0"/>
              </a:srgbClr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1060704" y="4078224"/>
            <a:ext cx="525780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900" dirty="0">
                <a:solidFill>
                  <a:srgbClr val="E5EC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Citizens see progress through updates, public aggregates, and shared ticket history.</a:t>
            </a:r>
            <a:endParaRPr lang="en-US" sz="1900" dirty="0"/>
          </a:p>
        </p:txBody>
      </p:sp>
      <p:sp>
        <p:nvSpPr>
          <p:cNvPr id="10" name="Shape 7"/>
          <p:cNvSpPr/>
          <p:nvPr/>
        </p:nvSpPr>
        <p:spPr>
          <a:xfrm>
            <a:off x="749808" y="4992624"/>
            <a:ext cx="118872" cy="118872"/>
          </a:xfrm>
          <a:prstGeom prst="ellipse">
            <a:avLst/>
          </a:prstGeom>
          <a:solidFill>
            <a:srgbClr val="6ADBC6"/>
          </a:solidFill>
          <a:ln w="12700">
            <a:solidFill>
              <a:srgbClr val="6ADBC6">
                <a:alpha val="0"/>
              </a:srgbClr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1060704" y="4919472"/>
            <a:ext cx="525780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900" dirty="0">
                <a:solidFill>
                  <a:srgbClr val="E5EC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next step is a single ward pilot using real reports and officer decisions.</a:t>
            </a:r>
            <a:endParaRPr lang="en-US" sz="1900" dirty="0"/>
          </a:p>
        </p:txBody>
      </p:sp>
      <p:sp>
        <p:nvSpPr>
          <p:cNvPr id="12" name="Shape 9"/>
          <p:cNvSpPr/>
          <p:nvPr/>
        </p:nvSpPr>
        <p:spPr>
          <a:xfrm>
            <a:off x="6812280" y="1234440"/>
            <a:ext cx="0" cy="4526280"/>
          </a:xfrm>
          <a:prstGeom prst="line">
            <a:avLst/>
          </a:prstGeom>
          <a:noFill/>
          <a:ln w="17780">
            <a:solidFill>
              <a:srgbClr val="6ADBC6">
                <a:alpha val="45000"/>
              </a:srgbClr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7452360" y="2011680"/>
            <a:ext cx="379476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800" b="1" dirty="0">
                <a:solidFill>
                  <a:srgbClr val="6ADB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Q&amp;A</a:t>
            </a:r>
            <a:endParaRPr lang="en-US" sz="5800" dirty="0"/>
          </a:p>
        </p:txBody>
      </p:sp>
      <p:sp>
        <p:nvSpPr>
          <p:cNvPr id="14" name="Text 11"/>
          <p:cNvSpPr/>
          <p:nvPr/>
        </p:nvSpPr>
        <p:spPr>
          <a:xfrm>
            <a:off x="7543800" y="3310128"/>
            <a:ext cx="3611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Questions and discussion</a:t>
            </a:r>
            <a:endParaRPr lang="en-US" sz="1800" dirty="0"/>
          </a:p>
        </p:txBody>
      </p:sp>
      <p:pic>
        <p:nvPicPr>
          <p:cNvPr id="15" name="Image 1" descr="D:\Hackathon2.0\ras\frontend\public\icon-512.pn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8595360" y="3968496"/>
            <a:ext cx="1490472" cy="1490472"/>
          </a:xfrm>
          <a:prstGeom prst="rect">
            <a:avLst/>
          </a:prstGeom>
        </p:spPr>
      </p:pic>
      <p:sp>
        <p:nvSpPr>
          <p:cNvPr id="16" name="Text 12"/>
          <p:cNvSpPr/>
          <p:nvPr/>
        </p:nvSpPr>
        <p:spPr>
          <a:xfrm>
            <a:off x="7818120" y="5897880"/>
            <a:ext cx="30358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140" kern="0" dirty="0">
                <a:solidFill>
                  <a:srgbClr val="6ADB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TEAM RAS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rial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RAS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Sahayatri Project Presentation</dc:title>
  <dc:subject>Sahayatri civic issue reporting platform</dc:subject>
  <dc:creator>Team RAS</dc:creator>
  <cp:lastModifiedBy>Team RAS</cp:lastModifiedBy>
  <cp:revision>1</cp:revision>
  <dcterms:created xsi:type="dcterms:W3CDTF">2026-09-20T03:38:36Z</dcterms:created>
  <dcterms:modified xsi:type="dcterms:W3CDTF">2026-09-20T03:38:36Z</dcterms:modified>
</cp:coreProperties>
</file>